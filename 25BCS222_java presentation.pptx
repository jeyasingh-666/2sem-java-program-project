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x="18288000" cy="10287000"/>
  <p:notesSz cx="6858000" cy="9144000"/>
  <p:embeddedFontLst>
    <p:embeddedFont>
      <p:font typeface="Big Shoulders Display" charset="1" panose="00000000000000000000"/>
      <p:regular r:id="rId20"/>
    </p:embeddedFont>
    <p:embeddedFont>
      <p:font typeface="Arimo" charset="1" panose="020B0604020202020204"/>
      <p:regular r:id="rId21"/>
    </p:embeddedFont>
    <p:embeddedFont>
      <p:font typeface="Arimo Bold" charset="1" panose="020B0704020202020204"/>
      <p:regular r:id="rId22"/>
    </p:embeddedFont>
    <p:embeddedFont>
      <p:font typeface="Arial" charset="1" panose="020B0604020202020204"/>
      <p:regular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https://docs.oracle.com/javase/8/docs/" TargetMode="External" Type="http://schemas.openxmlformats.org/officeDocument/2006/relationships/hyperlink"/><Relationship Id="rId4" Target="https://www.geeksforgeeks.org/java/" TargetMode="External" Type="http://schemas.openxmlformats.org/officeDocument/2006/relationships/hyperlink"/><Relationship Id="rId5" Target="https://www.w3schools.com/java/" TargetMode="External" Type="http://schemas.openxmlformats.org/officeDocument/2006/relationships/hyperlink"/><Relationship Id="rId6" Target="../media/image2.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4FBFE">
                <a:alpha val="100000"/>
              </a:srgbClr>
            </a:gs>
            <a:gs pos="74000">
              <a:srgbClr val="99DAF3">
                <a:alpha val="100000"/>
              </a:srgbClr>
            </a:gs>
            <a:gs pos="83000">
              <a:srgbClr val="99DAF3">
                <a:alpha val="100000"/>
              </a:srgbClr>
            </a:gs>
            <a:gs pos="100000">
              <a:srgbClr val="BBE6F7">
                <a:alpha val="100000"/>
              </a:srgbClr>
            </a:gs>
          </a:gsLst>
          <a:lin ang="5400000"/>
        </a:gradFill>
      </p:bgPr>
    </p:bg>
    <p:spTree>
      <p:nvGrpSpPr>
        <p:cNvPr id="1" name=""/>
        <p:cNvGrpSpPr/>
        <p:nvPr/>
      </p:nvGrpSpPr>
      <p:grpSpPr>
        <a:xfrm>
          <a:off x="0" y="0"/>
          <a:ext cx="0" cy="0"/>
          <a:chOff x="0" y="0"/>
          <a:chExt cx="0" cy="0"/>
        </a:xfrm>
      </p:grpSpPr>
      <p:sp>
        <p:nvSpPr>
          <p:cNvPr name="AutoShape 2" id="2"/>
          <p:cNvSpPr/>
          <p:nvPr/>
        </p:nvSpPr>
        <p:spPr>
          <a:xfrm rot="-5328540">
            <a:off x="442398" y="1915849"/>
            <a:ext cx="1401013" cy="0"/>
          </a:xfrm>
          <a:prstGeom prst="line">
            <a:avLst/>
          </a:prstGeom>
          <a:ln cap="rnd" w="19050">
            <a:solidFill>
              <a:srgbClr val="1CADE4"/>
            </a:solidFill>
            <a:prstDash val="solid"/>
            <a:headEnd type="none" len="sm" w="sm"/>
            <a:tailEnd type="none" len="sm" w="sm"/>
          </a:ln>
        </p:spPr>
      </p:sp>
      <p:grpSp>
        <p:nvGrpSpPr>
          <p:cNvPr name="Group 3" id="3"/>
          <p:cNvGrpSpPr/>
          <p:nvPr/>
        </p:nvGrpSpPr>
        <p:grpSpPr>
          <a:xfrm rot="0">
            <a:off x="-15116" y="0"/>
            <a:ext cx="6104163" cy="10286457"/>
            <a:chOff x="0" y="0"/>
            <a:chExt cx="8138884" cy="13715276"/>
          </a:xfrm>
        </p:grpSpPr>
        <p:sp>
          <p:nvSpPr>
            <p:cNvPr name="Freeform 4" id="4">
              <a:extLst>
                <a:ext uri="{C183D7F6-B498-43B3-948B-1728B52AA6E4}">
                  <adec:decorative xmlns:adec="http://schemas.microsoft.com/office/drawing/2017/decorative" val="1"/>
                </a:ext>
              </a:extLst>
            </p:cNvPr>
            <p:cNvSpPr/>
            <p:nvPr/>
          </p:nvSpPr>
          <p:spPr>
            <a:xfrm flipH="false" flipV="false" rot="0">
              <a:off x="0" y="0"/>
              <a:ext cx="8138922" cy="13715237"/>
            </a:xfrm>
            <a:custGeom>
              <a:avLst/>
              <a:gdLst/>
              <a:ahLst/>
              <a:cxnLst/>
              <a:rect r="r" b="b" t="t" l="l"/>
              <a:pathLst>
                <a:path h="13715237" w="8138922">
                  <a:moveTo>
                    <a:pt x="0" y="0"/>
                  </a:moveTo>
                  <a:lnTo>
                    <a:pt x="8138922" y="0"/>
                  </a:lnTo>
                  <a:lnTo>
                    <a:pt x="8138922" y="13715237"/>
                  </a:lnTo>
                  <a:lnTo>
                    <a:pt x="0" y="13715237"/>
                  </a:lnTo>
                  <a:close/>
                </a:path>
              </a:pathLst>
            </a:custGeom>
            <a:solidFill>
              <a:srgbClr val="1CADE4"/>
            </a:solidFill>
          </p:spPr>
        </p:sp>
      </p:grpSp>
      <p:grpSp>
        <p:nvGrpSpPr>
          <p:cNvPr name="Group 5" id="5"/>
          <p:cNvGrpSpPr/>
          <p:nvPr/>
        </p:nvGrpSpPr>
        <p:grpSpPr>
          <a:xfrm rot="0">
            <a:off x="606975" y="933931"/>
            <a:ext cx="5144043" cy="8419138"/>
            <a:chOff x="0" y="0"/>
            <a:chExt cx="6858724" cy="11225517"/>
          </a:xfrm>
        </p:grpSpPr>
        <p:sp>
          <p:nvSpPr>
            <p:cNvPr name="Freeform 6" id="6"/>
            <p:cNvSpPr/>
            <p:nvPr/>
          </p:nvSpPr>
          <p:spPr>
            <a:xfrm flipH="false" flipV="false" rot="0">
              <a:off x="0" y="0"/>
              <a:ext cx="6858720" cy="11225520"/>
            </a:xfrm>
            <a:custGeom>
              <a:avLst/>
              <a:gdLst/>
              <a:ahLst/>
              <a:cxnLst/>
              <a:rect r="r" b="b" t="t" l="l"/>
              <a:pathLst>
                <a:path h="11225520" w="6858720">
                  <a:moveTo>
                    <a:pt x="0" y="0"/>
                  </a:moveTo>
                  <a:lnTo>
                    <a:pt x="6858720" y="0"/>
                  </a:lnTo>
                  <a:lnTo>
                    <a:pt x="6858720" y="11225520"/>
                  </a:lnTo>
                  <a:lnTo>
                    <a:pt x="0" y="11225520"/>
                  </a:lnTo>
                  <a:close/>
                </a:path>
              </a:pathLst>
            </a:custGeom>
            <a:blipFill>
              <a:blip r:embed="rId2">
                <a:alphaModFix amt="0"/>
              </a:blip>
              <a:stretch>
                <a:fillRect l="-159991" t="0" r="-159991" b="0"/>
              </a:stretch>
            </a:blipFill>
          </p:spPr>
        </p:sp>
        <p:sp>
          <p:nvSpPr>
            <p:cNvPr name="TextBox 7" id="7"/>
            <p:cNvSpPr txBox="true"/>
            <p:nvPr/>
          </p:nvSpPr>
          <p:spPr>
            <a:xfrm>
              <a:off x="0" y="152400"/>
              <a:ext cx="6858724" cy="11073117"/>
            </a:xfrm>
            <a:prstGeom prst="rect">
              <a:avLst/>
            </a:prstGeom>
          </p:spPr>
          <p:txBody>
            <a:bodyPr anchor="ctr" rtlCol="false" tIns="0" lIns="0" bIns="0" rIns="0"/>
            <a:lstStyle/>
            <a:p>
              <a:pPr algn="l">
                <a:lnSpc>
                  <a:spcPts val="7200"/>
                </a:lnSpc>
              </a:pPr>
              <a:r>
                <a:rPr lang="en-US" sz="7500" spc="162">
                  <a:solidFill>
                    <a:srgbClr val="FFFFFF"/>
                  </a:solidFill>
                  <a:latin typeface="Big Shoulders Display"/>
                  <a:ea typeface="Big Shoulders Display"/>
                  <a:cs typeface="Big Shoulders Display"/>
                  <a:sym typeface="Big Shoulders Display"/>
                </a:rPr>
                <a:t>JAVA Programming Project Presentation</a:t>
              </a:r>
            </a:p>
          </p:txBody>
        </p:sp>
      </p:grpSp>
      <p:sp>
        <p:nvSpPr>
          <p:cNvPr name="TextBox 8" id="8"/>
          <p:cNvSpPr txBox="true"/>
          <p:nvPr/>
        </p:nvSpPr>
        <p:spPr>
          <a:xfrm rot="0">
            <a:off x="7095420" y="3214783"/>
            <a:ext cx="10666438" cy="2203323"/>
          </a:xfrm>
          <a:prstGeom prst="rect">
            <a:avLst/>
          </a:prstGeom>
        </p:spPr>
        <p:txBody>
          <a:bodyPr anchor="t" rtlCol="false" tIns="0" lIns="0" bIns="0" rIns="0">
            <a:spAutoFit/>
          </a:bodyPr>
          <a:lstStyle/>
          <a:p>
            <a:pPr algn="l">
              <a:lnSpc>
                <a:spcPts val="2916"/>
              </a:lnSpc>
            </a:pPr>
          </a:p>
          <a:p>
            <a:pPr algn="l" marL="488632" indent="-244316" lvl="1">
              <a:lnSpc>
                <a:spcPts val="2916"/>
              </a:lnSpc>
              <a:buFont typeface="Arial"/>
              <a:buChar char="•"/>
            </a:pPr>
            <a:r>
              <a:rPr lang="en-US" sz="2700">
                <a:solidFill>
                  <a:srgbClr val="000000"/>
                </a:solidFill>
                <a:latin typeface="Arimo"/>
                <a:ea typeface="Arimo"/>
                <a:cs typeface="Arimo"/>
                <a:sym typeface="Arimo"/>
              </a:rPr>
              <a:t>Project Title: Restaurent order processing and billing system </a:t>
            </a:r>
          </a:p>
          <a:p>
            <a:pPr algn="l" marL="488632" indent="-244316" lvl="1">
              <a:lnSpc>
                <a:spcPts val="2916"/>
              </a:lnSpc>
              <a:buFont typeface="Arial"/>
              <a:buChar char="•"/>
            </a:pPr>
            <a:r>
              <a:rPr lang="en-US" sz="2700">
                <a:solidFill>
                  <a:srgbClr val="000000"/>
                </a:solidFill>
                <a:latin typeface="Arimo"/>
                <a:ea typeface="Arimo"/>
                <a:cs typeface="Arimo"/>
                <a:sym typeface="Arimo"/>
              </a:rPr>
              <a:t>Course: Java Mini Project</a:t>
            </a:r>
          </a:p>
          <a:p>
            <a:pPr algn="l" marL="488632" indent="-244316" lvl="1">
              <a:lnSpc>
                <a:spcPts val="2916"/>
              </a:lnSpc>
              <a:buFont typeface="Arial"/>
              <a:buChar char="•"/>
            </a:pPr>
            <a:r>
              <a:rPr lang="en-US" sz="2700">
                <a:solidFill>
                  <a:srgbClr val="000000"/>
                </a:solidFill>
                <a:latin typeface="Arimo"/>
                <a:ea typeface="Arimo"/>
                <a:cs typeface="Arimo"/>
                <a:sym typeface="Arimo"/>
              </a:rPr>
              <a:t>Student Name &amp; Roll No: Jeyasingh.T (25BCS222)</a:t>
            </a:r>
          </a:p>
          <a:p>
            <a:pPr algn="l" marL="488632" indent="-244316" lvl="1">
              <a:lnSpc>
                <a:spcPts val="2916"/>
              </a:lnSpc>
              <a:buFont typeface="Arial"/>
              <a:buChar char="•"/>
            </a:pPr>
            <a:r>
              <a:rPr lang="en-US" sz="2700">
                <a:solidFill>
                  <a:srgbClr val="000000"/>
                </a:solidFill>
                <a:latin typeface="Arimo"/>
                <a:ea typeface="Arimo"/>
                <a:cs typeface="Arimo"/>
                <a:sym typeface="Arimo"/>
              </a:rPr>
              <a:t>Department: Bsc.Computer Science (1C)</a:t>
            </a:r>
          </a:p>
          <a:p>
            <a:pPr algn="l" marL="488632" indent="-244316" lvl="1">
              <a:lnSpc>
                <a:spcPts val="2916"/>
              </a:lnSpc>
              <a:buFont typeface="Arial"/>
              <a:buChar char="•"/>
            </a:pPr>
            <a:r>
              <a:rPr lang="en-US" sz="2700">
                <a:solidFill>
                  <a:srgbClr val="000000"/>
                </a:solidFill>
                <a:latin typeface="Arimo"/>
                <a:ea typeface="Arimo"/>
                <a:cs typeface="Arimo"/>
                <a:sym typeface="Arimo"/>
              </a:rPr>
              <a:t>Mentor / Guide: MR.Dharaneesh</a:t>
            </a:r>
          </a:p>
        </p:txBody>
      </p:sp>
      <p:grpSp>
        <p:nvGrpSpPr>
          <p:cNvPr name="Group 9" id="9"/>
          <p:cNvGrpSpPr/>
          <p:nvPr/>
        </p:nvGrpSpPr>
        <p:grpSpPr>
          <a:xfrm rot="0">
            <a:off x="7049700" y="349920"/>
            <a:ext cx="10115283" cy="2528278"/>
            <a:chOff x="0" y="0"/>
            <a:chExt cx="13487044" cy="3371037"/>
          </a:xfrm>
        </p:grpSpPr>
        <p:sp>
          <p:nvSpPr>
            <p:cNvPr name="Freeform 10" id="10" descr="A blue and red logo  AI-generated content may be incorrect."/>
            <p:cNvSpPr/>
            <p:nvPr/>
          </p:nvSpPr>
          <p:spPr>
            <a:xfrm flipH="false" flipV="false" rot="0">
              <a:off x="0" y="0"/>
              <a:ext cx="13487019" cy="3371088"/>
            </a:xfrm>
            <a:custGeom>
              <a:avLst/>
              <a:gdLst/>
              <a:ahLst/>
              <a:cxnLst/>
              <a:rect r="r" b="b" t="t" l="l"/>
              <a:pathLst>
                <a:path h="3371088" w="13487019">
                  <a:moveTo>
                    <a:pt x="0" y="0"/>
                  </a:moveTo>
                  <a:lnTo>
                    <a:pt x="13487019" y="0"/>
                  </a:lnTo>
                  <a:lnTo>
                    <a:pt x="13487019" y="3371088"/>
                  </a:lnTo>
                  <a:lnTo>
                    <a:pt x="0" y="3371088"/>
                  </a:lnTo>
                  <a:lnTo>
                    <a:pt x="0" y="0"/>
                  </a:lnTo>
                  <a:close/>
                </a:path>
              </a:pathLst>
            </a:custGeom>
            <a:blipFill>
              <a:blip r:embed="rId3"/>
              <a:stretch>
                <a:fillRect l="0" t="-10" r="0" b="-9"/>
              </a:stretch>
            </a:blipFill>
          </p:spPr>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4FBFE">
                <a:alpha val="100000"/>
              </a:srgbClr>
            </a:gs>
            <a:gs pos="74000">
              <a:srgbClr val="99DAF3">
                <a:alpha val="100000"/>
              </a:srgbClr>
            </a:gs>
            <a:gs pos="83000">
              <a:srgbClr val="99DAF3">
                <a:alpha val="100000"/>
              </a:srgbClr>
            </a:gs>
            <a:gs pos="100000">
              <a:srgbClr val="BBE6F7">
                <a:alpha val="100000"/>
              </a:srgbClr>
            </a:gs>
          </a:gsLst>
          <a:lin ang="5400000"/>
        </a:gradFill>
      </p:bgPr>
    </p:bg>
    <p:spTree>
      <p:nvGrpSpPr>
        <p:cNvPr id="1" name=""/>
        <p:cNvGrpSpPr/>
        <p:nvPr/>
      </p:nvGrpSpPr>
      <p:grpSpPr>
        <a:xfrm>
          <a:off x="0" y="0"/>
          <a:ext cx="0" cy="0"/>
          <a:chOff x="0" y="0"/>
          <a:chExt cx="0" cy="0"/>
        </a:xfrm>
      </p:grpSpPr>
      <p:sp>
        <p:nvSpPr>
          <p:cNvPr name="AutoShape 2" id="2"/>
          <p:cNvSpPr/>
          <p:nvPr/>
        </p:nvSpPr>
        <p:spPr>
          <a:xfrm rot="-5328540">
            <a:off x="442398" y="1915849"/>
            <a:ext cx="1401013" cy="0"/>
          </a:xfrm>
          <a:prstGeom prst="line">
            <a:avLst/>
          </a:prstGeom>
          <a:ln cap="rnd" w="19050">
            <a:solidFill>
              <a:srgbClr val="1CADE4"/>
            </a:solidFill>
            <a:prstDash val="solid"/>
            <a:headEnd type="none" len="sm" w="sm"/>
            <a:tailEnd type="none" len="sm" w="sm"/>
          </a:ln>
        </p:spPr>
      </p:sp>
      <p:grpSp>
        <p:nvGrpSpPr>
          <p:cNvPr name="Group 3" id="3"/>
          <p:cNvGrpSpPr/>
          <p:nvPr/>
        </p:nvGrpSpPr>
        <p:grpSpPr>
          <a:xfrm rot="0">
            <a:off x="0" y="0"/>
            <a:ext cx="18287638" cy="10286457"/>
            <a:chOff x="0" y="0"/>
            <a:chExt cx="24383517" cy="13715276"/>
          </a:xfrm>
        </p:grpSpPr>
        <p:sp>
          <p:nvSpPr>
            <p:cNvPr name="Freeform 4" id="4">
              <a:extLst>
                <a:ext uri="{C183D7F6-B498-43B3-948B-1728B52AA6E4}">
                  <adec:decorative xmlns:adec="http://schemas.microsoft.com/office/drawing/2017/decorative" val="1"/>
                </a:ext>
              </a:extLst>
            </p:cNvPr>
            <p:cNvSpPr/>
            <p:nvPr/>
          </p:nvSpPr>
          <p:spPr>
            <a:xfrm flipH="false" flipV="false" rot="0">
              <a:off x="0" y="0"/>
              <a:ext cx="24383492" cy="13715237"/>
            </a:xfrm>
            <a:custGeom>
              <a:avLst/>
              <a:gdLst/>
              <a:ahLst/>
              <a:cxnLst/>
              <a:rect r="r" b="b" t="t" l="l"/>
              <a:pathLst>
                <a:path h="13715237" w="24383492">
                  <a:moveTo>
                    <a:pt x="0" y="0"/>
                  </a:moveTo>
                  <a:lnTo>
                    <a:pt x="24383492" y="0"/>
                  </a:lnTo>
                  <a:lnTo>
                    <a:pt x="24383492" y="13715237"/>
                  </a:lnTo>
                  <a:lnTo>
                    <a:pt x="0" y="13715237"/>
                  </a:lnTo>
                  <a:close/>
                </a:path>
              </a:pathLst>
            </a:custGeom>
            <a:solidFill>
              <a:srgbClr val="000000"/>
            </a:solidFill>
          </p:spPr>
        </p:sp>
      </p:grpSp>
      <p:grpSp>
        <p:nvGrpSpPr>
          <p:cNvPr name="Group 5" id="5"/>
          <p:cNvGrpSpPr/>
          <p:nvPr/>
        </p:nvGrpSpPr>
        <p:grpSpPr>
          <a:xfrm rot="0">
            <a:off x="4159082" y="726843"/>
            <a:ext cx="13421697" cy="8820902"/>
            <a:chOff x="0" y="0"/>
            <a:chExt cx="17895595" cy="11761203"/>
          </a:xfrm>
        </p:grpSpPr>
        <p:sp>
          <p:nvSpPr>
            <p:cNvPr name="Freeform 6" id="6">
              <a:extLst>
                <a:ext uri="{C183D7F6-B498-43B3-948B-1728B52AA6E4}">
                  <adec:decorative xmlns:adec="http://schemas.microsoft.com/office/drawing/2017/decorative" val="1"/>
                </a:ext>
              </a:extLst>
            </p:cNvPr>
            <p:cNvSpPr/>
            <p:nvPr/>
          </p:nvSpPr>
          <p:spPr>
            <a:xfrm flipH="false" flipV="false" rot="0">
              <a:off x="0" y="0"/>
              <a:ext cx="17895570" cy="11761216"/>
            </a:xfrm>
            <a:custGeom>
              <a:avLst/>
              <a:gdLst/>
              <a:ahLst/>
              <a:cxnLst/>
              <a:rect r="r" b="b" t="t" l="l"/>
              <a:pathLst>
                <a:path h="11761216" w="17895570">
                  <a:moveTo>
                    <a:pt x="0" y="0"/>
                  </a:moveTo>
                  <a:lnTo>
                    <a:pt x="17895570" y="0"/>
                  </a:lnTo>
                  <a:lnTo>
                    <a:pt x="17895570" y="11761216"/>
                  </a:lnTo>
                  <a:lnTo>
                    <a:pt x="0" y="11761216"/>
                  </a:lnTo>
                  <a:close/>
                </a:path>
              </a:pathLst>
            </a:custGeom>
            <a:solidFill>
              <a:srgbClr val="404040"/>
            </a:solidFill>
          </p:spPr>
        </p:sp>
      </p:grpSp>
      <p:grpSp>
        <p:nvGrpSpPr>
          <p:cNvPr name="Group 7" id="7"/>
          <p:cNvGrpSpPr/>
          <p:nvPr/>
        </p:nvGrpSpPr>
        <p:grpSpPr>
          <a:xfrm rot="0">
            <a:off x="4704591" y="561327"/>
            <a:ext cx="11884323" cy="2249100"/>
            <a:chOff x="0" y="0"/>
            <a:chExt cx="15845765" cy="2998800"/>
          </a:xfrm>
        </p:grpSpPr>
        <p:sp>
          <p:nvSpPr>
            <p:cNvPr name="Freeform 8" id="8"/>
            <p:cNvSpPr/>
            <p:nvPr/>
          </p:nvSpPr>
          <p:spPr>
            <a:xfrm flipH="false" flipV="false" rot="0">
              <a:off x="0" y="0"/>
              <a:ext cx="15845760" cy="2998800"/>
            </a:xfrm>
            <a:custGeom>
              <a:avLst/>
              <a:gdLst/>
              <a:ahLst/>
              <a:cxnLst/>
              <a:rect r="r" b="b" t="t" l="l"/>
              <a:pathLst>
                <a:path h="2998800" w="15845760">
                  <a:moveTo>
                    <a:pt x="0" y="0"/>
                  </a:moveTo>
                  <a:lnTo>
                    <a:pt x="15845760" y="0"/>
                  </a:lnTo>
                  <a:lnTo>
                    <a:pt x="15845760" y="2998800"/>
                  </a:lnTo>
                  <a:lnTo>
                    <a:pt x="0" y="2998800"/>
                  </a:lnTo>
                  <a:close/>
                </a:path>
              </a:pathLst>
            </a:custGeom>
            <a:blipFill>
              <a:blip r:embed="rId2">
                <a:alphaModFix amt="0"/>
              </a:blip>
              <a:stretch>
                <a:fillRect l="0" t="-52959" r="0" b="-52959"/>
              </a:stretch>
            </a:blipFill>
          </p:spPr>
        </p:sp>
        <p:sp>
          <p:nvSpPr>
            <p:cNvPr name="TextBox 9" id="9"/>
            <p:cNvSpPr txBox="true"/>
            <p:nvPr/>
          </p:nvSpPr>
          <p:spPr>
            <a:xfrm>
              <a:off x="0" y="152400"/>
              <a:ext cx="15845765" cy="2846400"/>
            </a:xfrm>
            <a:prstGeom prst="rect">
              <a:avLst/>
            </a:prstGeom>
          </p:spPr>
          <p:txBody>
            <a:bodyPr anchor="ctr" rtlCol="false" tIns="0" lIns="0" bIns="0" rIns="0"/>
            <a:lstStyle/>
            <a:p>
              <a:pPr algn="l">
                <a:lnSpc>
                  <a:spcPts val="7200"/>
                </a:lnSpc>
              </a:pPr>
              <a:r>
                <a:rPr lang="en-US" sz="7500" spc="162">
                  <a:solidFill>
                    <a:srgbClr val="FFFFFF"/>
                  </a:solidFill>
                  <a:latin typeface="Big Shoulders Display"/>
                  <a:ea typeface="Big Shoulders Display"/>
                  <a:cs typeface="Big Shoulders Display"/>
                  <a:sym typeface="Big Shoulders Display"/>
                </a:rPr>
                <a:t>Introduction</a:t>
              </a:r>
            </a:p>
          </p:txBody>
        </p:sp>
      </p:grpSp>
      <p:grpSp>
        <p:nvGrpSpPr>
          <p:cNvPr name="Group 10" id="10"/>
          <p:cNvGrpSpPr/>
          <p:nvPr/>
        </p:nvGrpSpPr>
        <p:grpSpPr>
          <a:xfrm rot="0">
            <a:off x="712803" y="726843"/>
            <a:ext cx="3193018" cy="8820902"/>
            <a:chOff x="0" y="0"/>
            <a:chExt cx="4257358" cy="11761203"/>
          </a:xfrm>
        </p:grpSpPr>
        <p:sp>
          <p:nvSpPr>
            <p:cNvPr name="Freeform 11" id="11">
              <a:extLst>
                <a:ext uri="{C183D7F6-B498-43B3-948B-1728B52AA6E4}">
                  <adec:decorative xmlns:adec="http://schemas.microsoft.com/office/drawing/2017/decorative" val="1"/>
                </a:ext>
              </a:extLst>
            </p:cNvPr>
            <p:cNvSpPr/>
            <p:nvPr/>
          </p:nvSpPr>
          <p:spPr>
            <a:xfrm flipH="false" flipV="false" rot="0">
              <a:off x="0" y="0"/>
              <a:ext cx="4257421" cy="11761216"/>
            </a:xfrm>
            <a:custGeom>
              <a:avLst/>
              <a:gdLst/>
              <a:ahLst/>
              <a:cxnLst/>
              <a:rect r="r" b="b" t="t" l="l"/>
              <a:pathLst>
                <a:path h="11761216" w="4257421">
                  <a:moveTo>
                    <a:pt x="0" y="0"/>
                  </a:moveTo>
                  <a:lnTo>
                    <a:pt x="4257421" y="0"/>
                  </a:lnTo>
                  <a:lnTo>
                    <a:pt x="4257421" y="11761216"/>
                  </a:lnTo>
                  <a:lnTo>
                    <a:pt x="0" y="11761216"/>
                  </a:lnTo>
                  <a:close/>
                </a:path>
              </a:pathLst>
            </a:custGeom>
            <a:solidFill>
              <a:srgbClr val="1CADE4"/>
            </a:solidFill>
          </p:spPr>
        </p:sp>
      </p:grpSp>
      <p:sp>
        <p:nvSpPr>
          <p:cNvPr name="TextBox 12" id="12"/>
          <p:cNvSpPr txBox="true"/>
          <p:nvPr/>
        </p:nvSpPr>
        <p:spPr>
          <a:xfrm rot="0">
            <a:off x="4552550" y="2635254"/>
            <a:ext cx="11792883" cy="6609969"/>
          </a:xfrm>
          <a:prstGeom prst="rect">
            <a:avLst/>
          </a:prstGeom>
        </p:spPr>
        <p:txBody>
          <a:bodyPr anchor="t" rtlCol="false" tIns="0" lIns="0" bIns="0" rIns="0">
            <a:spAutoFit/>
          </a:bodyPr>
          <a:lstStyle/>
          <a:p>
            <a:pPr algn="l">
              <a:lnSpc>
                <a:spcPts val="3023"/>
              </a:lnSpc>
            </a:pPr>
            <a:r>
              <a:rPr lang="en-US" sz="2799">
                <a:solidFill>
                  <a:srgbClr val="FFFFFF"/>
                </a:solidFill>
                <a:latin typeface="Arimo"/>
                <a:ea typeface="Arimo"/>
                <a:cs typeface="Arimo"/>
                <a:sym typeface="Arimo"/>
              </a:rPr>
              <a:t>What is a Restaurant Management System?</a:t>
            </a:r>
          </a:p>
          <a:p>
            <a:pPr algn="l">
              <a:lnSpc>
                <a:spcPts val="3023"/>
              </a:lnSpc>
            </a:pPr>
          </a:p>
          <a:p>
            <a:pPr algn="l">
              <a:lnSpc>
                <a:spcPts val="3023"/>
              </a:lnSpc>
            </a:pPr>
            <a:r>
              <a:rPr lang="en-US" sz="2799">
                <a:solidFill>
                  <a:srgbClr val="FFFFFF"/>
                </a:solidFill>
                <a:latin typeface="Arimo"/>
                <a:ea typeface="Arimo"/>
                <a:cs typeface="Arimo"/>
                <a:sym typeface="Arimo"/>
              </a:rPr>
              <a:t>A Restaurant Management System is a software application that helps manage restaurant</a:t>
            </a:r>
          </a:p>
          <a:p>
            <a:pPr algn="l">
              <a:lnSpc>
                <a:spcPts val="3023"/>
              </a:lnSpc>
            </a:pPr>
            <a:r>
              <a:rPr lang="en-US" sz="2799">
                <a:solidFill>
                  <a:srgbClr val="FFFFFF"/>
                </a:solidFill>
                <a:latin typeface="Arimo"/>
                <a:ea typeface="Arimo"/>
                <a:cs typeface="Arimo"/>
                <a:sym typeface="Arimo"/>
              </a:rPr>
              <a:t> operations like taking orders, processing them, and generating bills automatically.</a:t>
            </a:r>
          </a:p>
          <a:p>
            <a:pPr algn="l">
              <a:lnSpc>
                <a:spcPts val="3023"/>
              </a:lnSpc>
            </a:pPr>
          </a:p>
          <a:p>
            <a:pPr algn="l">
              <a:lnSpc>
                <a:spcPts val="3023"/>
              </a:lnSpc>
            </a:pPr>
            <a:r>
              <a:rPr lang="en-US" sz="2799">
                <a:solidFill>
                  <a:srgbClr val="FFFFFF"/>
                </a:solidFill>
                <a:latin typeface="Arimo"/>
                <a:ea typeface="Arimo"/>
                <a:cs typeface="Arimo"/>
                <a:sym typeface="Arimo"/>
              </a:rPr>
              <a:t>🔹 Purpose of the Project:</a:t>
            </a:r>
          </a:p>
          <a:p>
            <a:pPr algn="l">
              <a:lnSpc>
                <a:spcPts val="3023"/>
              </a:lnSpc>
            </a:pPr>
            <a:r>
              <a:rPr lang="en-US" sz="2799">
                <a:solidFill>
                  <a:srgbClr val="FFFFFF"/>
                </a:solidFill>
                <a:latin typeface="Arimo"/>
                <a:ea typeface="Arimo"/>
                <a:cs typeface="Arimo"/>
                <a:sym typeface="Arimo"/>
              </a:rPr>
              <a:t>The purpose of this project is to automate the ordering and billing process, </a:t>
            </a:r>
          </a:p>
          <a:p>
            <a:pPr algn="l">
              <a:lnSpc>
                <a:spcPts val="3023"/>
              </a:lnSpc>
            </a:pPr>
            <a:r>
              <a:rPr lang="en-US" sz="2799">
                <a:solidFill>
                  <a:srgbClr val="FFFFFF"/>
                </a:solidFill>
                <a:latin typeface="Arimo"/>
                <a:ea typeface="Arimo"/>
                <a:cs typeface="Arimo"/>
                <a:sym typeface="Arimo"/>
              </a:rPr>
              <a:t>reduce human errors, and make restaurant operations faster and more efficient.</a:t>
            </a:r>
          </a:p>
          <a:p>
            <a:pPr algn="l">
              <a:lnSpc>
                <a:spcPts val="3023"/>
              </a:lnSpc>
            </a:pPr>
          </a:p>
          <a:p>
            <a:pPr algn="l">
              <a:lnSpc>
                <a:spcPts val="3023"/>
              </a:lnSpc>
            </a:pPr>
          </a:p>
          <a:p>
            <a:pPr algn="l">
              <a:lnSpc>
                <a:spcPts val="3023"/>
              </a:lnSpc>
            </a:pPr>
            <a:r>
              <a:rPr lang="en-US" sz="2799">
                <a:solidFill>
                  <a:srgbClr val="FFFFFF"/>
                </a:solidFill>
                <a:latin typeface="Arimo"/>
                <a:ea typeface="Arimo"/>
                <a:cs typeface="Arimo"/>
                <a:sym typeface="Arimo"/>
              </a:rPr>
              <a:t>🔹 Importance in Real-Life Restaurants:</a:t>
            </a:r>
          </a:p>
          <a:p>
            <a:pPr algn="l">
              <a:lnSpc>
                <a:spcPts val="3023"/>
              </a:lnSpc>
            </a:pPr>
            <a:r>
              <a:rPr lang="en-US" sz="2799">
                <a:solidFill>
                  <a:srgbClr val="FFFFFF"/>
                </a:solidFill>
                <a:latin typeface="Arimo"/>
                <a:ea typeface="Arimo"/>
                <a:cs typeface="Arimo"/>
                <a:sym typeface="Arimo"/>
              </a:rPr>
              <a:t>Saves time by speeding up order and billing processReduces mistakes in orders and calculations</a:t>
            </a:r>
          </a:p>
          <a:p>
            <a:pPr algn="l">
              <a:lnSpc>
                <a:spcPts val="3023"/>
              </a:lnSpc>
            </a:pPr>
            <a:r>
              <a:rPr lang="en-US" sz="2799">
                <a:solidFill>
                  <a:srgbClr val="FFFFFF"/>
                </a:solidFill>
                <a:latin typeface="Arimo"/>
                <a:ea typeface="Arimo"/>
                <a:cs typeface="Arimo"/>
                <a:sym typeface="Arimo"/>
              </a:rPr>
              <a:t>Improves customer serviceHelps manage records easily</a:t>
            </a:r>
          </a:p>
          <a:p>
            <a:pPr algn="l">
              <a:lnSpc>
                <a:spcPts val="972"/>
              </a:lnSpc>
            </a:pPr>
          </a:p>
        </p:txBody>
      </p:sp>
      <p:grpSp>
        <p:nvGrpSpPr>
          <p:cNvPr name="Group 13" id="13"/>
          <p:cNvGrpSpPr/>
          <p:nvPr/>
        </p:nvGrpSpPr>
        <p:grpSpPr>
          <a:xfrm rot="0">
            <a:off x="849420" y="982256"/>
            <a:ext cx="2816638" cy="703621"/>
            <a:chOff x="0" y="0"/>
            <a:chExt cx="3755517" cy="938162"/>
          </a:xfrm>
        </p:grpSpPr>
        <p:sp>
          <p:nvSpPr>
            <p:cNvPr name="Freeform 14" id="14" descr="A blue and red logo  AI-generated content may be incorrect."/>
            <p:cNvSpPr/>
            <p:nvPr/>
          </p:nvSpPr>
          <p:spPr>
            <a:xfrm flipH="false" flipV="false" rot="0">
              <a:off x="0" y="0"/>
              <a:ext cx="3755517" cy="938149"/>
            </a:xfrm>
            <a:custGeom>
              <a:avLst/>
              <a:gdLst/>
              <a:ahLst/>
              <a:cxnLst/>
              <a:rect r="r" b="b" t="t" l="l"/>
              <a:pathLst>
                <a:path h="938149" w="3755517">
                  <a:moveTo>
                    <a:pt x="0" y="0"/>
                  </a:moveTo>
                  <a:lnTo>
                    <a:pt x="3755517" y="0"/>
                  </a:lnTo>
                  <a:lnTo>
                    <a:pt x="3755517" y="938149"/>
                  </a:lnTo>
                  <a:lnTo>
                    <a:pt x="0" y="938149"/>
                  </a:lnTo>
                  <a:lnTo>
                    <a:pt x="0" y="0"/>
                  </a:lnTo>
                  <a:close/>
                </a:path>
              </a:pathLst>
            </a:custGeom>
            <a:blipFill>
              <a:blip r:embed="rId3"/>
              <a:stretch>
                <a:fillRect l="0" t="-37" r="0" b="-40"/>
              </a:stretch>
            </a:blipFill>
          </p:spPr>
        </p:sp>
      </p:grpSp>
      <p:grpSp>
        <p:nvGrpSpPr>
          <p:cNvPr name="Group 15" id="15"/>
          <p:cNvGrpSpPr/>
          <p:nvPr/>
        </p:nvGrpSpPr>
        <p:grpSpPr>
          <a:xfrm rot="0">
            <a:off x="849420" y="885063"/>
            <a:ext cx="2816638" cy="8419140"/>
            <a:chOff x="0" y="0"/>
            <a:chExt cx="3755517" cy="11225520"/>
          </a:xfrm>
        </p:grpSpPr>
        <p:sp>
          <p:nvSpPr>
            <p:cNvPr name="Freeform 16" id="16"/>
            <p:cNvSpPr/>
            <p:nvPr/>
          </p:nvSpPr>
          <p:spPr>
            <a:xfrm flipH="false" flipV="false" rot="0">
              <a:off x="0" y="0"/>
              <a:ext cx="3755520" cy="11225523"/>
            </a:xfrm>
            <a:custGeom>
              <a:avLst/>
              <a:gdLst/>
              <a:ahLst/>
              <a:cxnLst/>
              <a:rect r="r" b="b" t="t" l="l"/>
              <a:pathLst>
                <a:path h="11225523" w="3755520">
                  <a:moveTo>
                    <a:pt x="0" y="0"/>
                  </a:moveTo>
                  <a:lnTo>
                    <a:pt x="3755520" y="0"/>
                  </a:lnTo>
                  <a:lnTo>
                    <a:pt x="3755520" y="11225523"/>
                  </a:lnTo>
                  <a:lnTo>
                    <a:pt x="0" y="11225523"/>
                  </a:lnTo>
                  <a:close/>
                </a:path>
              </a:pathLst>
            </a:custGeom>
            <a:blipFill>
              <a:blip r:embed="rId2">
                <a:alphaModFix amt="0"/>
              </a:blip>
              <a:stretch>
                <a:fillRect l="-333508" t="0" r="-333508" b="0"/>
              </a:stretch>
            </a:blipFill>
          </p:spPr>
        </p:sp>
        <p:sp>
          <p:nvSpPr>
            <p:cNvPr name="TextBox 17" id="17"/>
            <p:cNvSpPr txBox="true"/>
            <p:nvPr/>
          </p:nvSpPr>
          <p:spPr>
            <a:xfrm>
              <a:off x="0" y="66675"/>
              <a:ext cx="3755517" cy="11158845"/>
            </a:xfrm>
            <a:prstGeom prst="rect">
              <a:avLst/>
            </a:prstGeom>
          </p:spPr>
          <p:txBody>
            <a:bodyPr anchor="ctr" rtlCol="false" tIns="0" lIns="0" bIns="0" rIns="0"/>
            <a:lstStyle/>
            <a:p>
              <a:pPr algn="l">
                <a:lnSpc>
                  <a:spcPts val="2879"/>
                </a:lnSpc>
              </a:pPr>
              <a:r>
                <a:rPr lang="en-US" sz="3000" spc="154">
                  <a:solidFill>
                    <a:srgbClr val="FFFFFF"/>
                  </a:solidFill>
                  <a:latin typeface="Big Shoulders Display"/>
                  <a:ea typeface="Big Shoulders Display"/>
                  <a:cs typeface="Big Shoulders Display"/>
                  <a:sym typeface="Big Shoulders Display"/>
                </a:rPr>
                <a:t>Java</a:t>
              </a:r>
              <a:r>
                <a:rPr lang="en-US" sz="3000" spc="154">
                  <a:solidFill>
                    <a:srgbClr val="FFFFFF"/>
                  </a:solidFill>
                  <a:latin typeface="Big Shoulders Display"/>
                  <a:ea typeface="Big Shoulders Display"/>
                  <a:cs typeface="Big Shoulders Display"/>
                  <a:sym typeface="Big Shoulders Display"/>
                </a:rPr>
                <a:t> Project Presentation</a:t>
              </a:r>
            </a:p>
          </p:txBody>
        </p:sp>
      </p:grpSp>
    </p:spTree>
  </p:cSld>
  <p:clrMapOvr>
    <a:masterClrMapping/>
  </p:clrMapOvr>
  <p:transition spd="fast">
    <p:fade/>
  </p:transition>
</p:sld>
</file>

<file path=ppt/slides/slide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4FBFE">
                <a:alpha val="100000"/>
              </a:srgbClr>
            </a:gs>
            <a:gs pos="74000">
              <a:srgbClr val="99DAF3">
                <a:alpha val="100000"/>
              </a:srgbClr>
            </a:gs>
            <a:gs pos="83000">
              <a:srgbClr val="99DAF3">
                <a:alpha val="100000"/>
              </a:srgbClr>
            </a:gs>
            <a:gs pos="100000">
              <a:srgbClr val="BBE6F7">
                <a:alpha val="100000"/>
              </a:srgbClr>
            </a:gs>
          </a:gsLst>
          <a:lin ang="5400000"/>
        </a:gradFill>
      </p:bgPr>
    </p:bg>
    <p:spTree>
      <p:nvGrpSpPr>
        <p:cNvPr id="1" name=""/>
        <p:cNvGrpSpPr/>
        <p:nvPr/>
      </p:nvGrpSpPr>
      <p:grpSpPr>
        <a:xfrm>
          <a:off x="0" y="0"/>
          <a:ext cx="0" cy="0"/>
          <a:chOff x="0" y="0"/>
          <a:chExt cx="0" cy="0"/>
        </a:xfrm>
      </p:grpSpPr>
      <p:sp>
        <p:nvSpPr>
          <p:cNvPr name="AutoShape 2" id="2"/>
          <p:cNvSpPr/>
          <p:nvPr/>
        </p:nvSpPr>
        <p:spPr>
          <a:xfrm rot="-5328540">
            <a:off x="442398" y="1915849"/>
            <a:ext cx="1401013" cy="0"/>
          </a:xfrm>
          <a:prstGeom prst="line">
            <a:avLst/>
          </a:prstGeom>
          <a:ln cap="rnd" w="19050">
            <a:solidFill>
              <a:srgbClr val="1CADE4"/>
            </a:solidFill>
            <a:prstDash val="solid"/>
            <a:headEnd type="none" len="sm" w="sm"/>
            <a:tailEnd type="none" len="sm" w="sm"/>
          </a:ln>
        </p:spPr>
      </p:sp>
      <p:grpSp>
        <p:nvGrpSpPr>
          <p:cNvPr name="Group 3" id="3"/>
          <p:cNvGrpSpPr/>
          <p:nvPr/>
        </p:nvGrpSpPr>
        <p:grpSpPr>
          <a:xfrm rot="0">
            <a:off x="0" y="0"/>
            <a:ext cx="18287638" cy="10286457"/>
            <a:chOff x="0" y="0"/>
            <a:chExt cx="24383517" cy="13715276"/>
          </a:xfrm>
        </p:grpSpPr>
        <p:sp>
          <p:nvSpPr>
            <p:cNvPr name="Freeform 4" id="4">
              <a:extLst>
                <a:ext uri="{C183D7F6-B498-43B3-948B-1728B52AA6E4}">
                  <adec:decorative xmlns:adec="http://schemas.microsoft.com/office/drawing/2017/decorative" val="1"/>
                </a:ext>
              </a:extLst>
            </p:cNvPr>
            <p:cNvSpPr/>
            <p:nvPr/>
          </p:nvSpPr>
          <p:spPr>
            <a:xfrm flipH="false" flipV="false" rot="0">
              <a:off x="0" y="0"/>
              <a:ext cx="24383492" cy="13715237"/>
            </a:xfrm>
            <a:custGeom>
              <a:avLst/>
              <a:gdLst/>
              <a:ahLst/>
              <a:cxnLst/>
              <a:rect r="r" b="b" t="t" l="l"/>
              <a:pathLst>
                <a:path h="13715237" w="24383492">
                  <a:moveTo>
                    <a:pt x="0" y="0"/>
                  </a:moveTo>
                  <a:lnTo>
                    <a:pt x="24383492" y="0"/>
                  </a:lnTo>
                  <a:lnTo>
                    <a:pt x="24383492" y="13715237"/>
                  </a:lnTo>
                  <a:lnTo>
                    <a:pt x="0" y="13715237"/>
                  </a:lnTo>
                  <a:close/>
                </a:path>
              </a:pathLst>
            </a:custGeom>
            <a:solidFill>
              <a:srgbClr val="000000"/>
            </a:solidFill>
          </p:spPr>
        </p:sp>
      </p:grpSp>
      <p:grpSp>
        <p:nvGrpSpPr>
          <p:cNvPr name="Group 5" id="5"/>
          <p:cNvGrpSpPr/>
          <p:nvPr/>
        </p:nvGrpSpPr>
        <p:grpSpPr>
          <a:xfrm rot="0">
            <a:off x="4249463" y="726843"/>
            <a:ext cx="13421697" cy="8820902"/>
            <a:chOff x="0" y="0"/>
            <a:chExt cx="17895595" cy="11761203"/>
          </a:xfrm>
        </p:grpSpPr>
        <p:sp>
          <p:nvSpPr>
            <p:cNvPr name="Freeform 6" id="6">
              <a:extLst>
                <a:ext uri="{C183D7F6-B498-43B3-948B-1728B52AA6E4}">
                  <adec:decorative xmlns:adec="http://schemas.microsoft.com/office/drawing/2017/decorative" val="1"/>
                </a:ext>
              </a:extLst>
            </p:cNvPr>
            <p:cNvSpPr/>
            <p:nvPr/>
          </p:nvSpPr>
          <p:spPr>
            <a:xfrm flipH="false" flipV="false" rot="0">
              <a:off x="0" y="0"/>
              <a:ext cx="17895570" cy="11761216"/>
            </a:xfrm>
            <a:custGeom>
              <a:avLst/>
              <a:gdLst/>
              <a:ahLst/>
              <a:cxnLst/>
              <a:rect r="r" b="b" t="t" l="l"/>
              <a:pathLst>
                <a:path h="11761216" w="17895570">
                  <a:moveTo>
                    <a:pt x="0" y="0"/>
                  </a:moveTo>
                  <a:lnTo>
                    <a:pt x="17895570" y="0"/>
                  </a:lnTo>
                  <a:lnTo>
                    <a:pt x="17895570" y="11761216"/>
                  </a:lnTo>
                  <a:lnTo>
                    <a:pt x="0" y="11761216"/>
                  </a:lnTo>
                  <a:close/>
                </a:path>
              </a:pathLst>
            </a:custGeom>
            <a:solidFill>
              <a:srgbClr val="404040"/>
            </a:solidFill>
          </p:spPr>
        </p:sp>
      </p:grpSp>
      <p:grpSp>
        <p:nvGrpSpPr>
          <p:cNvPr name="Group 7" id="7"/>
          <p:cNvGrpSpPr/>
          <p:nvPr/>
        </p:nvGrpSpPr>
        <p:grpSpPr>
          <a:xfrm rot="0">
            <a:off x="5203984" y="1182595"/>
            <a:ext cx="11884323" cy="2249100"/>
            <a:chOff x="0" y="0"/>
            <a:chExt cx="15845765" cy="2998800"/>
          </a:xfrm>
        </p:grpSpPr>
        <p:sp>
          <p:nvSpPr>
            <p:cNvPr name="Freeform 8" id="8"/>
            <p:cNvSpPr/>
            <p:nvPr/>
          </p:nvSpPr>
          <p:spPr>
            <a:xfrm flipH="false" flipV="false" rot="0">
              <a:off x="0" y="0"/>
              <a:ext cx="15845760" cy="2998800"/>
            </a:xfrm>
            <a:custGeom>
              <a:avLst/>
              <a:gdLst/>
              <a:ahLst/>
              <a:cxnLst/>
              <a:rect r="r" b="b" t="t" l="l"/>
              <a:pathLst>
                <a:path h="2998800" w="15845760">
                  <a:moveTo>
                    <a:pt x="0" y="0"/>
                  </a:moveTo>
                  <a:lnTo>
                    <a:pt x="15845760" y="0"/>
                  </a:lnTo>
                  <a:lnTo>
                    <a:pt x="15845760" y="2998800"/>
                  </a:lnTo>
                  <a:lnTo>
                    <a:pt x="0" y="2998800"/>
                  </a:lnTo>
                  <a:close/>
                </a:path>
              </a:pathLst>
            </a:custGeom>
            <a:blipFill>
              <a:blip r:embed="rId2">
                <a:alphaModFix amt="0"/>
              </a:blip>
              <a:stretch>
                <a:fillRect l="0" t="-52959" r="0" b="-52959"/>
              </a:stretch>
            </a:blipFill>
          </p:spPr>
        </p:sp>
        <p:sp>
          <p:nvSpPr>
            <p:cNvPr name="TextBox 9" id="9"/>
            <p:cNvSpPr txBox="true"/>
            <p:nvPr/>
          </p:nvSpPr>
          <p:spPr>
            <a:xfrm>
              <a:off x="0" y="152400"/>
              <a:ext cx="15845765" cy="2846400"/>
            </a:xfrm>
            <a:prstGeom prst="rect">
              <a:avLst/>
            </a:prstGeom>
          </p:spPr>
          <p:txBody>
            <a:bodyPr anchor="ctr" rtlCol="false" tIns="0" lIns="0" bIns="0" rIns="0"/>
            <a:lstStyle/>
            <a:p>
              <a:pPr algn="l">
                <a:lnSpc>
                  <a:spcPts val="7200"/>
                </a:lnSpc>
              </a:pPr>
              <a:r>
                <a:rPr lang="en-US" sz="7500" spc="162">
                  <a:solidFill>
                    <a:srgbClr val="FFFFFF"/>
                  </a:solidFill>
                  <a:latin typeface="Big Shoulders Display"/>
                  <a:ea typeface="Big Shoulders Display"/>
                  <a:cs typeface="Big Shoulders Display"/>
                  <a:sym typeface="Big Shoulders Display"/>
                </a:rPr>
                <a:t>Objective</a:t>
              </a:r>
            </a:p>
          </p:txBody>
        </p:sp>
      </p:grpSp>
      <p:grpSp>
        <p:nvGrpSpPr>
          <p:cNvPr name="Group 10" id="10"/>
          <p:cNvGrpSpPr/>
          <p:nvPr/>
        </p:nvGrpSpPr>
        <p:grpSpPr>
          <a:xfrm rot="0">
            <a:off x="712803" y="726843"/>
            <a:ext cx="3193018" cy="8820902"/>
            <a:chOff x="0" y="0"/>
            <a:chExt cx="4257358" cy="11761203"/>
          </a:xfrm>
        </p:grpSpPr>
        <p:sp>
          <p:nvSpPr>
            <p:cNvPr name="Freeform 11" id="11">
              <a:extLst>
                <a:ext uri="{C183D7F6-B498-43B3-948B-1728B52AA6E4}">
                  <adec:decorative xmlns:adec="http://schemas.microsoft.com/office/drawing/2017/decorative" val="1"/>
                </a:ext>
              </a:extLst>
            </p:cNvPr>
            <p:cNvSpPr/>
            <p:nvPr/>
          </p:nvSpPr>
          <p:spPr>
            <a:xfrm flipH="false" flipV="false" rot="0">
              <a:off x="0" y="0"/>
              <a:ext cx="4257421" cy="11761216"/>
            </a:xfrm>
            <a:custGeom>
              <a:avLst/>
              <a:gdLst/>
              <a:ahLst/>
              <a:cxnLst/>
              <a:rect r="r" b="b" t="t" l="l"/>
              <a:pathLst>
                <a:path h="11761216" w="4257421">
                  <a:moveTo>
                    <a:pt x="0" y="0"/>
                  </a:moveTo>
                  <a:lnTo>
                    <a:pt x="4257421" y="0"/>
                  </a:lnTo>
                  <a:lnTo>
                    <a:pt x="4257421" y="11761216"/>
                  </a:lnTo>
                  <a:lnTo>
                    <a:pt x="0" y="11761216"/>
                  </a:lnTo>
                  <a:close/>
                </a:path>
              </a:pathLst>
            </a:custGeom>
            <a:solidFill>
              <a:srgbClr val="1CADE4"/>
            </a:solidFill>
          </p:spPr>
        </p:sp>
      </p:grpSp>
      <p:sp>
        <p:nvSpPr>
          <p:cNvPr name="TextBox 12" id="12"/>
          <p:cNvSpPr txBox="true"/>
          <p:nvPr/>
        </p:nvSpPr>
        <p:spPr>
          <a:xfrm rot="0">
            <a:off x="4796031" y="2966876"/>
            <a:ext cx="12328560" cy="3864101"/>
          </a:xfrm>
          <a:prstGeom prst="rect">
            <a:avLst/>
          </a:prstGeom>
        </p:spPr>
        <p:txBody>
          <a:bodyPr anchor="t" rtlCol="false" tIns="0" lIns="0" bIns="0" rIns="0">
            <a:spAutoFit/>
          </a:bodyPr>
          <a:lstStyle/>
          <a:p>
            <a:pPr algn="l">
              <a:lnSpc>
                <a:spcPts val="6371"/>
              </a:lnSpc>
            </a:pPr>
          </a:p>
          <a:p>
            <a:pPr algn="l" marL="798825" indent="-399412" lvl="1">
              <a:lnSpc>
                <a:spcPts val="3995"/>
              </a:lnSpc>
              <a:buFont typeface="Arial"/>
              <a:buChar char="•"/>
            </a:pPr>
            <a:r>
              <a:rPr lang="en-US" b="true" sz="3699">
                <a:solidFill>
                  <a:srgbClr val="FFFFFF"/>
                </a:solidFill>
                <a:latin typeface="Arimo Bold"/>
                <a:ea typeface="Arimo Bold"/>
                <a:cs typeface="Arimo Bold"/>
                <a:sym typeface="Arimo Bold"/>
              </a:rPr>
              <a:t> Automate restaurant order management.</a:t>
            </a:r>
          </a:p>
          <a:p>
            <a:pPr algn="l" marL="798825" indent="-399412" lvl="1">
              <a:lnSpc>
                <a:spcPts val="3995"/>
              </a:lnSpc>
              <a:buFont typeface="Arial"/>
              <a:buChar char="•"/>
            </a:pPr>
            <a:r>
              <a:rPr lang="en-US" b="true" sz="3699">
                <a:solidFill>
                  <a:srgbClr val="FFFFFF"/>
                </a:solidFill>
                <a:latin typeface="Arimo Bold"/>
                <a:ea typeface="Arimo Bold"/>
                <a:cs typeface="Arimo Bold"/>
                <a:sym typeface="Arimo Bold"/>
              </a:rPr>
              <a:t> Reduce manual billing errors.</a:t>
            </a:r>
          </a:p>
          <a:p>
            <a:pPr algn="l" marL="798825" indent="-399412" lvl="1">
              <a:lnSpc>
                <a:spcPts val="3995"/>
              </a:lnSpc>
              <a:buFont typeface="Arial"/>
              <a:buChar char="•"/>
            </a:pPr>
            <a:r>
              <a:rPr lang="en-US" b="true" sz="3699">
                <a:solidFill>
                  <a:srgbClr val="FFFFFF"/>
                </a:solidFill>
                <a:latin typeface="Arimo Bold"/>
                <a:ea typeface="Arimo Bold"/>
                <a:cs typeface="Arimo Bold"/>
                <a:sym typeface="Arimo Bold"/>
              </a:rPr>
              <a:t> Provide fast and accurate bill generation.</a:t>
            </a:r>
          </a:p>
          <a:p>
            <a:pPr algn="l" marL="798825" indent="-399412" lvl="1">
              <a:lnSpc>
                <a:spcPts val="3995"/>
              </a:lnSpc>
              <a:buFont typeface="Arial"/>
              <a:buChar char="•"/>
            </a:pPr>
            <a:r>
              <a:rPr lang="en-US" b="true" sz="3699">
                <a:solidFill>
                  <a:srgbClr val="FFFFFF"/>
                </a:solidFill>
                <a:latin typeface="Arimo Bold"/>
                <a:ea typeface="Arimo Bold"/>
                <a:cs typeface="Arimo Bold"/>
                <a:sym typeface="Arimo Bold"/>
              </a:rPr>
              <a:t> Improve customer service efficiency.</a:t>
            </a:r>
          </a:p>
          <a:p>
            <a:pPr algn="l" marL="798825" indent="-399412" lvl="1">
              <a:lnSpc>
                <a:spcPts val="3995"/>
              </a:lnSpc>
              <a:buFont typeface="Arial"/>
              <a:buChar char="•"/>
            </a:pPr>
            <a:r>
              <a:rPr lang="en-US" b="true" sz="3699">
                <a:solidFill>
                  <a:srgbClr val="FFFFFF"/>
                </a:solidFill>
                <a:latin typeface="Arimo Bold"/>
                <a:ea typeface="Arimo Bold"/>
                <a:cs typeface="Arimo Bold"/>
                <a:sym typeface="Arimo Bold"/>
              </a:rPr>
              <a:t> Maintain a structured record of orders.</a:t>
            </a:r>
          </a:p>
          <a:p>
            <a:pPr algn="l">
              <a:lnSpc>
                <a:spcPts val="3995"/>
              </a:lnSpc>
            </a:pPr>
          </a:p>
        </p:txBody>
      </p:sp>
      <p:grpSp>
        <p:nvGrpSpPr>
          <p:cNvPr name="Group 13" id="13"/>
          <p:cNvGrpSpPr/>
          <p:nvPr/>
        </p:nvGrpSpPr>
        <p:grpSpPr>
          <a:xfrm rot="0">
            <a:off x="849420" y="982256"/>
            <a:ext cx="2816638" cy="703621"/>
            <a:chOff x="0" y="0"/>
            <a:chExt cx="3755517" cy="938162"/>
          </a:xfrm>
        </p:grpSpPr>
        <p:sp>
          <p:nvSpPr>
            <p:cNvPr name="Freeform 14" id="14" descr="A blue and red logo  AI-generated content may be incorrect."/>
            <p:cNvSpPr/>
            <p:nvPr/>
          </p:nvSpPr>
          <p:spPr>
            <a:xfrm flipH="false" flipV="false" rot="0">
              <a:off x="0" y="0"/>
              <a:ext cx="3755517" cy="938149"/>
            </a:xfrm>
            <a:custGeom>
              <a:avLst/>
              <a:gdLst/>
              <a:ahLst/>
              <a:cxnLst/>
              <a:rect r="r" b="b" t="t" l="l"/>
              <a:pathLst>
                <a:path h="938149" w="3755517">
                  <a:moveTo>
                    <a:pt x="0" y="0"/>
                  </a:moveTo>
                  <a:lnTo>
                    <a:pt x="3755517" y="0"/>
                  </a:lnTo>
                  <a:lnTo>
                    <a:pt x="3755517" y="938149"/>
                  </a:lnTo>
                  <a:lnTo>
                    <a:pt x="0" y="938149"/>
                  </a:lnTo>
                  <a:lnTo>
                    <a:pt x="0" y="0"/>
                  </a:lnTo>
                  <a:close/>
                </a:path>
              </a:pathLst>
            </a:custGeom>
            <a:blipFill>
              <a:blip r:embed="rId3"/>
              <a:stretch>
                <a:fillRect l="0" t="-37" r="0" b="-40"/>
              </a:stretch>
            </a:blipFill>
          </p:spPr>
        </p:sp>
      </p:grpSp>
      <p:grpSp>
        <p:nvGrpSpPr>
          <p:cNvPr name="Group 15" id="15"/>
          <p:cNvGrpSpPr/>
          <p:nvPr/>
        </p:nvGrpSpPr>
        <p:grpSpPr>
          <a:xfrm rot="0">
            <a:off x="849420" y="885063"/>
            <a:ext cx="2816638" cy="8419140"/>
            <a:chOff x="0" y="0"/>
            <a:chExt cx="3755517" cy="11225520"/>
          </a:xfrm>
        </p:grpSpPr>
        <p:sp>
          <p:nvSpPr>
            <p:cNvPr name="Freeform 16" id="16"/>
            <p:cNvSpPr/>
            <p:nvPr/>
          </p:nvSpPr>
          <p:spPr>
            <a:xfrm flipH="false" flipV="false" rot="0">
              <a:off x="0" y="0"/>
              <a:ext cx="3755520" cy="11225523"/>
            </a:xfrm>
            <a:custGeom>
              <a:avLst/>
              <a:gdLst/>
              <a:ahLst/>
              <a:cxnLst/>
              <a:rect r="r" b="b" t="t" l="l"/>
              <a:pathLst>
                <a:path h="11225523" w="3755520">
                  <a:moveTo>
                    <a:pt x="0" y="0"/>
                  </a:moveTo>
                  <a:lnTo>
                    <a:pt x="3755520" y="0"/>
                  </a:lnTo>
                  <a:lnTo>
                    <a:pt x="3755520" y="11225523"/>
                  </a:lnTo>
                  <a:lnTo>
                    <a:pt x="0" y="11225523"/>
                  </a:lnTo>
                  <a:close/>
                </a:path>
              </a:pathLst>
            </a:custGeom>
            <a:blipFill>
              <a:blip r:embed="rId2">
                <a:alphaModFix amt="0"/>
              </a:blip>
              <a:stretch>
                <a:fillRect l="-333508" t="0" r="-333508" b="0"/>
              </a:stretch>
            </a:blipFill>
          </p:spPr>
        </p:sp>
        <p:sp>
          <p:nvSpPr>
            <p:cNvPr name="TextBox 17" id="17"/>
            <p:cNvSpPr txBox="true"/>
            <p:nvPr/>
          </p:nvSpPr>
          <p:spPr>
            <a:xfrm>
              <a:off x="0" y="66675"/>
              <a:ext cx="3755517" cy="11158845"/>
            </a:xfrm>
            <a:prstGeom prst="rect">
              <a:avLst/>
            </a:prstGeom>
          </p:spPr>
          <p:txBody>
            <a:bodyPr anchor="ctr" rtlCol="false" tIns="0" lIns="0" bIns="0" rIns="0"/>
            <a:lstStyle/>
            <a:p>
              <a:pPr algn="l">
                <a:lnSpc>
                  <a:spcPts val="2879"/>
                </a:lnSpc>
              </a:pPr>
              <a:r>
                <a:rPr lang="en-US" sz="3000" spc="154">
                  <a:solidFill>
                    <a:srgbClr val="FFFFFF"/>
                  </a:solidFill>
                  <a:latin typeface="Big Shoulders Display"/>
                  <a:ea typeface="Big Shoulders Display"/>
                  <a:cs typeface="Big Shoulders Display"/>
                  <a:sym typeface="Big Shoulders Display"/>
                </a:rPr>
                <a:t>java</a:t>
              </a:r>
              <a:r>
                <a:rPr lang="en-US" sz="3000" spc="154">
                  <a:solidFill>
                    <a:srgbClr val="FFFFFF"/>
                  </a:solidFill>
                  <a:latin typeface="Big Shoulders Display"/>
                  <a:ea typeface="Big Shoulders Display"/>
                  <a:cs typeface="Big Shoulders Display"/>
                  <a:sym typeface="Big Shoulders Display"/>
                </a:rPr>
                <a:t> Project Presentation</a:t>
              </a:r>
            </a:p>
          </p:txBody>
        </p:sp>
      </p:grpSp>
    </p:spTree>
  </p:cSld>
  <p:clrMapOvr>
    <a:masterClrMapping/>
  </p:clrMapOvr>
  <p:transition spd="fast">
    <p:fade/>
  </p:transition>
</p:sld>
</file>

<file path=ppt/slides/slide4.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4FBFE">
                <a:alpha val="100000"/>
              </a:srgbClr>
            </a:gs>
            <a:gs pos="74000">
              <a:srgbClr val="99DAF3">
                <a:alpha val="100000"/>
              </a:srgbClr>
            </a:gs>
            <a:gs pos="83000">
              <a:srgbClr val="99DAF3">
                <a:alpha val="100000"/>
              </a:srgbClr>
            </a:gs>
            <a:gs pos="100000">
              <a:srgbClr val="BBE6F7">
                <a:alpha val="100000"/>
              </a:srgbClr>
            </a:gs>
          </a:gsLst>
          <a:lin ang="5400000"/>
        </a:gradFill>
      </p:bgPr>
    </p:bg>
    <p:spTree>
      <p:nvGrpSpPr>
        <p:cNvPr id="1" name=""/>
        <p:cNvGrpSpPr/>
        <p:nvPr/>
      </p:nvGrpSpPr>
      <p:grpSpPr>
        <a:xfrm>
          <a:off x="0" y="0"/>
          <a:ext cx="0" cy="0"/>
          <a:chOff x="0" y="0"/>
          <a:chExt cx="0" cy="0"/>
        </a:xfrm>
      </p:grpSpPr>
      <p:sp>
        <p:nvSpPr>
          <p:cNvPr name="AutoShape 2" id="2"/>
          <p:cNvSpPr/>
          <p:nvPr/>
        </p:nvSpPr>
        <p:spPr>
          <a:xfrm rot="-5328540">
            <a:off x="442398" y="1915849"/>
            <a:ext cx="1401013" cy="0"/>
          </a:xfrm>
          <a:prstGeom prst="line">
            <a:avLst/>
          </a:prstGeom>
          <a:ln cap="rnd" w="19050">
            <a:solidFill>
              <a:srgbClr val="1CADE4"/>
            </a:solidFill>
            <a:prstDash val="solid"/>
            <a:headEnd type="none" len="sm" w="sm"/>
            <a:tailEnd type="none" len="sm" w="sm"/>
          </a:ln>
        </p:spPr>
      </p:sp>
      <p:grpSp>
        <p:nvGrpSpPr>
          <p:cNvPr name="Group 3" id="3"/>
          <p:cNvGrpSpPr/>
          <p:nvPr/>
        </p:nvGrpSpPr>
        <p:grpSpPr>
          <a:xfrm rot="0">
            <a:off x="0" y="0"/>
            <a:ext cx="18287638" cy="10286457"/>
            <a:chOff x="0" y="0"/>
            <a:chExt cx="24383517" cy="13715276"/>
          </a:xfrm>
        </p:grpSpPr>
        <p:sp>
          <p:nvSpPr>
            <p:cNvPr name="Freeform 4" id="4">
              <a:extLst>
                <a:ext uri="{C183D7F6-B498-43B3-948B-1728B52AA6E4}">
                  <adec:decorative xmlns:adec="http://schemas.microsoft.com/office/drawing/2017/decorative" val="1"/>
                </a:ext>
              </a:extLst>
            </p:cNvPr>
            <p:cNvSpPr/>
            <p:nvPr/>
          </p:nvSpPr>
          <p:spPr>
            <a:xfrm flipH="false" flipV="false" rot="0">
              <a:off x="0" y="0"/>
              <a:ext cx="24383492" cy="13715237"/>
            </a:xfrm>
            <a:custGeom>
              <a:avLst/>
              <a:gdLst/>
              <a:ahLst/>
              <a:cxnLst/>
              <a:rect r="r" b="b" t="t" l="l"/>
              <a:pathLst>
                <a:path h="13715237" w="24383492">
                  <a:moveTo>
                    <a:pt x="0" y="0"/>
                  </a:moveTo>
                  <a:lnTo>
                    <a:pt x="24383492" y="0"/>
                  </a:lnTo>
                  <a:lnTo>
                    <a:pt x="24383492" y="13715237"/>
                  </a:lnTo>
                  <a:lnTo>
                    <a:pt x="0" y="13715237"/>
                  </a:lnTo>
                  <a:close/>
                </a:path>
              </a:pathLst>
            </a:custGeom>
            <a:solidFill>
              <a:srgbClr val="000000"/>
            </a:solidFill>
          </p:spPr>
        </p:sp>
      </p:grpSp>
      <p:grpSp>
        <p:nvGrpSpPr>
          <p:cNvPr name="Group 5" id="5"/>
          <p:cNvGrpSpPr/>
          <p:nvPr/>
        </p:nvGrpSpPr>
        <p:grpSpPr>
          <a:xfrm rot="0">
            <a:off x="4159082" y="726843"/>
            <a:ext cx="13421697" cy="8820902"/>
            <a:chOff x="0" y="0"/>
            <a:chExt cx="17895595" cy="11761203"/>
          </a:xfrm>
        </p:grpSpPr>
        <p:sp>
          <p:nvSpPr>
            <p:cNvPr name="Freeform 6" id="6">
              <a:extLst>
                <a:ext uri="{C183D7F6-B498-43B3-948B-1728B52AA6E4}">
                  <adec:decorative xmlns:adec="http://schemas.microsoft.com/office/drawing/2017/decorative" val="1"/>
                </a:ext>
              </a:extLst>
            </p:cNvPr>
            <p:cNvSpPr/>
            <p:nvPr/>
          </p:nvSpPr>
          <p:spPr>
            <a:xfrm flipH="false" flipV="false" rot="0">
              <a:off x="0" y="0"/>
              <a:ext cx="17895570" cy="11761216"/>
            </a:xfrm>
            <a:custGeom>
              <a:avLst/>
              <a:gdLst/>
              <a:ahLst/>
              <a:cxnLst/>
              <a:rect r="r" b="b" t="t" l="l"/>
              <a:pathLst>
                <a:path h="11761216" w="17895570">
                  <a:moveTo>
                    <a:pt x="0" y="0"/>
                  </a:moveTo>
                  <a:lnTo>
                    <a:pt x="17895570" y="0"/>
                  </a:lnTo>
                  <a:lnTo>
                    <a:pt x="17895570" y="11761216"/>
                  </a:lnTo>
                  <a:lnTo>
                    <a:pt x="0" y="11761216"/>
                  </a:lnTo>
                  <a:close/>
                </a:path>
              </a:pathLst>
            </a:custGeom>
            <a:solidFill>
              <a:srgbClr val="404040"/>
            </a:solidFill>
          </p:spPr>
        </p:sp>
      </p:grpSp>
      <p:grpSp>
        <p:nvGrpSpPr>
          <p:cNvPr name="Group 7" id="7"/>
          <p:cNvGrpSpPr/>
          <p:nvPr/>
        </p:nvGrpSpPr>
        <p:grpSpPr>
          <a:xfrm rot="0">
            <a:off x="5203984" y="1182595"/>
            <a:ext cx="11884323" cy="2249100"/>
            <a:chOff x="0" y="0"/>
            <a:chExt cx="15845765" cy="2998800"/>
          </a:xfrm>
        </p:grpSpPr>
        <p:sp>
          <p:nvSpPr>
            <p:cNvPr name="Freeform 8" id="8"/>
            <p:cNvSpPr/>
            <p:nvPr/>
          </p:nvSpPr>
          <p:spPr>
            <a:xfrm flipH="false" flipV="false" rot="0">
              <a:off x="0" y="0"/>
              <a:ext cx="15845760" cy="2998800"/>
            </a:xfrm>
            <a:custGeom>
              <a:avLst/>
              <a:gdLst/>
              <a:ahLst/>
              <a:cxnLst/>
              <a:rect r="r" b="b" t="t" l="l"/>
              <a:pathLst>
                <a:path h="2998800" w="15845760">
                  <a:moveTo>
                    <a:pt x="0" y="0"/>
                  </a:moveTo>
                  <a:lnTo>
                    <a:pt x="15845760" y="0"/>
                  </a:lnTo>
                  <a:lnTo>
                    <a:pt x="15845760" y="2998800"/>
                  </a:lnTo>
                  <a:lnTo>
                    <a:pt x="0" y="2998800"/>
                  </a:lnTo>
                  <a:close/>
                </a:path>
              </a:pathLst>
            </a:custGeom>
            <a:blipFill>
              <a:blip r:embed="rId2">
                <a:alphaModFix amt="0"/>
              </a:blip>
              <a:stretch>
                <a:fillRect l="0" t="-52959" r="0" b="-52959"/>
              </a:stretch>
            </a:blipFill>
          </p:spPr>
        </p:sp>
        <p:sp>
          <p:nvSpPr>
            <p:cNvPr name="TextBox 9" id="9"/>
            <p:cNvSpPr txBox="true"/>
            <p:nvPr/>
          </p:nvSpPr>
          <p:spPr>
            <a:xfrm>
              <a:off x="0" y="152400"/>
              <a:ext cx="15845765" cy="2846400"/>
            </a:xfrm>
            <a:prstGeom prst="rect">
              <a:avLst/>
            </a:prstGeom>
          </p:spPr>
          <p:txBody>
            <a:bodyPr anchor="ctr" rtlCol="false" tIns="0" lIns="0" bIns="0" rIns="0"/>
            <a:lstStyle/>
            <a:p>
              <a:pPr algn="l">
                <a:lnSpc>
                  <a:spcPts val="7200"/>
                </a:lnSpc>
              </a:pPr>
              <a:r>
                <a:rPr lang="en-US" sz="7500" spc="162">
                  <a:solidFill>
                    <a:srgbClr val="FFFFFF"/>
                  </a:solidFill>
                  <a:latin typeface="Big Shoulders Display"/>
                  <a:ea typeface="Big Shoulders Display"/>
                  <a:cs typeface="Big Shoulders Display"/>
                  <a:sym typeface="Big Shoulders Display"/>
                </a:rPr>
                <a:t>Problem Statement</a:t>
              </a:r>
            </a:p>
          </p:txBody>
        </p:sp>
      </p:grpSp>
      <p:grpSp>
        <p:nvGrpSpPr>
          <p:cNvPr name="Group 10" id="10"/>
          <p:cNvGrpSpPr/>
          <p:nvPr/>
        </p:nvGrpSpPr>
        <p:grpSpPr>
          <a:xfrm rot="0">
            <a:off x="712803" y="726843"/>
            <a:ext cx="3193018" cy="8820902"/>
            <a:chOff x="0" y="0"/>
            <a:chExt cx="4257358" cy="11761203"/>
          </a:xfrm>
        </p:grpSpPr>
        <p:sp>
          <p:nvSpPr>
            <p:cNvPr name="Freeform 11" id="11">
              <a:extLst>
                <a:ext uri="{C183D7F6-B498-43B3-948B-1728B52AA6E4}">
                  <adec:decorative xmlns:adec="http://schemas.microsoft.com/office/drawing/2017/decorative" val="1"/>
                </a:ext>
              </a:extLst>
            </p:cNvPr>
            <p:cNvSpPr/>
            <p:nvPr/>
          </p:nvSpPr>
          <p:spPr>
            <a:xfrm flipH="false" flipV="false" rot="0">
              <a:off x="0" y="0"/>
              <a:ext cx="4257421" cy="11761216"/>
            </a:xfrm>
            <a:custGeom>
              <a:avLst/>
              <a:gdLst/>
              <a:ahLst/>
              <a:cxnLst/>
              <a:rect r="r" b="b" t="t" l="l"/>
              <a:pathLst>
                <a:path h="11761216" w="4257421">
                  <a:moveTo>
                    <a:pt x="0" y="0"/>
                  </a:moveTo>
                  <a:lnTo>
                    <a:pt x="4257421" y="0"/>
                  </a:lnTo>
                  <a:lnTo>
                    <a:pt x="4257421" y="11761216"/>
                  </a:lnTo>
                  <a:lnTo>
                    <a:pt x="0" y="11761216"/>
                  </a:lnTo>
                  <a:close/>
                </a:path>
              </a:pathLst>
            </a:custGeom>
            <a:solidFill>
              <a:srgbClr val="1CADE4"/>
            </a:solidFill>
          </p:spPr>
        </p:sp>
      </p:grpSp>
      <p:sp>
        <p:nvSpPr>
          <p:cNvPr name="TextBox 12" id="12"/>
          <p:cNvSpPr txBox="true"/>
          <p:nvPr/>
        </p:nvSpPr>
        <p:spPr>
          <a:xfrm rot="0">
            <a:off x="4587976" y="3603542"/>
            <a:ext cx="11792883" cy="4517517"/>
          </a:xfrm>
          <a:prstGeom prst="rect">
            <a:avLst/>
          </a:prstGeom>
        </p:spPr>
        <p:txBody>
          <a:bodyPr anchor="t" rtlCol="false" tIns="0" lIns="0" bIns="0" rIns="0">
            <a:spAutoFit/>
          </a:bodyPr>
          <a:lstStyle/>
          <a:p>
            <a:pPr algn="l">
              <a:lnSpc>
                <a:spcPts val="3563"/>
              </a:lnSpc>
            </a:pPr>
            <a:r>
              <a:rPr lang="en-US" sz="3299">
                <a:solidFill>
                  <a:srgbClr val="FFFFFF"/>
                </a:solidFill>
                <a:latin typeface="Arimo"/>
                <a:ea typeface="Arimo"/>
                <a:cs typeface="Arimo"/>
                <a:sym typeface="Arimo"/>
              </a:rPr>
              <a:t>Manual order processing in restaurants can lead to:</a:t>
            </a:r>
          </a:p>
          <a:p>
            <a:pPr algn="l">
              <a:lnSpc>
                <a:spcPts val="3563"/>
              </a:lnSpc>
            </a:pPr>
          </a:p>
          <a:p>
            <a:pPr algn="l" marL="712467" indent="-356233" lvl="1">
              <a:lnSpc>
                <a:spcPts val="3563"/>
              </a:lnSpc>
              <a:buFont typeface="Arial"/>
              <a:buChar char="•"/>
            </a:pPr>
            <a:r>
              <a:rPr lang="en-US" sz="3299">
                <a:solidFill>
                  <a:srgbClr val="FFFFFF"/>
                </a:solidFill>
                <a:latin typeface="Arimo"/>
                <a:ea typeface="Arimo"/>
                <a:cs typeface="Arimo"/>
                <a:sym typeface="Arimo"/>
              </a:rPr>
              <a:t>Incorrect billing</a:t>
            </a:r>
          </a:p>
          <a:p>
            <a:pPr algn="l" marL="712467" indent="-356233" lvl="1">
              <a:lnSpc>
                <a:spcPts val="3563"/>
              </a:lnSpc>
              <a:buFont typeface="Arial"/>
              <a:buChar char="•"/>
            </a:pPr>
            <a:r>
              <a:rPr lang="en-US" sz="3299">
                <a:solidFill>
                  <a:srgbClr val="FFFFFF"/>
                </a:solidFill>
                <a:latin typeface="Arimo"/>
                <a:ea typeface="Arimo"/>
                <a:cs typeface="Arimo"/>
                <a:sym typeface="Arimo"/>
              </a:rPr>
              <a:t>Delays in service</a:t>
            </a:r>
          </a:p>
          <a:p>
            <a:pPr algn="l" marL="712467" indent="-356233" lvl="1">
              <a:lnSpc>
                <a:spcPts val="3563"/>
              </a:lnSpc>
              <a:buFont typeface="Arial"/>
              <a:buChar char="•"/>
            </a:pPr>
            <a:r>
              <a:rPr lang="en-US" sz="3299">
                <a:solidFill>
                  <a:srgbClr val="FFFFFF"/>
                </a:solidFill>
                <a:latin typeface="Arimo"/>
                <a:ea typeface="Arimo"/>
                <a:cs typeface="Arimo"/>
                <a:sym typeface="Arimo"/>
              </a:rPr>
              <a:t>Difficulty tracking orders</a:t>
            </a:r>
          </a:p>
          <a:p>
            <a:pPr algn="l" marL="712467" indent="-356233" lvl="1">
              <a:lnSpc>
                <a:spcPts val="3563"/>
              </a:lnSpc>
              <a:buFont typeface="Arial"/>
              <a:buChar char="•"/>
            </a:pPr>
            <a:r>
              <a:rPr lang="en-US" sz="3299">
                <a:solidFill>
                  <a:srgbClr val="FFFFFF"/>
                </a:solidFill>
                <a:latin typeface="Arimo"/>
                <a:ea typeface="Arimo"/>
                <a:cs typeface="Arimo"/>
                <a:sym typeface="Arimo"/>
              </a:rPr>
              <a:t>Human errors in calculations</a:t>
            </a:r>
          </a:p>
          <a:p>
            <a:pPr algn="l">
              <a:lnSpc>
                <a:spcPts val="3563"/>
              </a:lnSpc>
            </a:pPr>
          </a:p>
          <a:p>
            <a:pPr algn="l">
              <a:lnSpc>
                <a:spcPts val="3563"/>
              </a:lnSpc>
            </a:pPr>
            <a:r>
              <a:rPr lang="en-US" sz="3299">
                <a:solidFill>
                  <a:srgbClr val="FFFFFF"/>
                </a:solidFill>
                <a:latin typeface="Arimo"/>
                <a:ea typeface="Arimo"/>
                <a:cs typeface="Arimo"/>
                <a:sym typeface="Arimo"/>
              </a:rPr>
              <a:t>This system solves these problems by digitizing order entry and billing.</a:t>
            </a:r>
          </a:p>
          <a:p>
            <a:pPr algn="l">
              <a:lnSpc>
                <a:spcPts val="3563"/>
              </a:lnSpc>
            </a:pPr>
          </a:p>
        </p:txBody>
      </p:sp>
      <p:grpSp>
        <p:nvGrpSpPr>
          <p:cNvPr name="Group 13" id="13"/>
          <p:cNvGrpSpPr/>
          <p:nvPr/>
        </p:nvGrpSpPr>
        <p:grpSpPr>
          <a:xfrm rot="0">
            <a:off x="849420" y="982256"/>
            <a:ext cx="2816638" cy="703621"/>
            <a:chOff x="0" y="0"/>
            <a:chExt cx="3755517" cy="938162"/>
          </a:xfrm>
        </p:grpSpPr>
        <p:sp>
          <p:nvSpPr>
            <p:cNvPr name="Freeform 14" id="14" descr="A blue and red logo  AI-generated content may be incorrect."/>
            <p:cNvSpPr/>
            <p:nvPr/>
          </p:nvSpPr>
          <p:spPr>
            <a:xfrm flipH="false" flipV="false" rot="0">
              <a:off x="0" y="0"/>
              <a:ext cx="3755517" cy="938149"/>
            </a:xfrm>
            <a:custGeom>
              <a:avLst/>
              <a:gdLst/>
              <a:ahLst/>
              <a:cxnLst/>
              <a:rect r="r" b="b" t="t" l="l"/>
              <a:pathLst>
                <a:path h="938149" w="3755517">
                  <a:moveTo>
                    <a:pt x="0" y="0"/>
                  </a:moveTo>
                  <a:lnTo>
                    <a:pt x="3755517" y="0"/>
                  </a:lnTo>
                  <a:lnTo>
                    <a:pt x="3755517" y="938149"/>
                  </a:lnTo>
                  <a:lnTo>
                    <a:pt x="0" y="938149"/>
                  </a:lnTo>
                  <a:lnTo>
                    <a:pt x="0" y="0"/>
                  </a:lnTo>
                  <a:close/>
                </a:path>
              </a:pathLst>
            </a:custGeom>
            <a:blipFill>
              <a:blip r:embed="rId3"/>
              <a:stretch>
                <a:fillRect l="0" t="-37" r="0" b="-40"/>
              </a:stretch>
            </a:blipFill>
          </p:spPr>
        </p:sp>
      </p:grpSp>
      <p:grpSp>
        <p:nvGrpSpPr>
          <p:cNvPr name="Group 15" id="15"/>
          <p:cNvGrpSpPr/>
          <p:nvPr/>
        </p:nvGrpSpPr>
        <p:grpSpPr>
          <a:xfrm rot="0">
            <a:off x="849420" y="885063"/>
            <a:ext cx="2816638" cy="8419140"/>
            <a:chOff x="0" y="0"/>
            <a:chExt cx="3755517" cy="11225520"/>
          </a:xfrm>
        </p:grpSpPr>
        <p:sp>
          <p:nvSpPr>
            <p:cNvPr name="Freeform 16" id="16"/>
            <p:cNvSpPr/>
            <p:nvPr/>
          </p:nvSpPr>
          <p:spPr>
            <a:xfrm flipH="false" flipV="false" rot="0">
              <a:off x="0" y="0"/>
              <a:ext cx="3755520" cy="11225523"/>
            </a:xfrm>
            <a:custGeom>
              <a:avLst/>
              <a:gdLst/>
              <a:ahLst/>
              <a:cxnLst/>
              <a:rect r="r" b="b" t="t" l="l"/>
              <a:pathLst>
                <a:path h="11225523" w="3755520">
                  <a:moveTo>
                    <a:pt x="0" y="0"/>
                  </a:moveTo>
                  <a:lnTo>
                    <a:pt x="3755520" y="0"/>
                  </a:lnTo>
                  <a:lnTo>
                    <a:pt x="3755520" y="11225523"/>
                  </a:lnTo>
                  <a:lnTo>
                    <a:pt x="0" y="11225523"/>
                  </a:lnTo>
                  <a:close/>
                </a:path>
              </a:pathLst>
            </a:custGeom>
            <a:blipFill>
              <a:blip r:embed="rId2">
                <a:alphaModFix amt="0"/>
              </a:blip>
              <a:stretch>
                <a:fillRect l="-333508" t="0" r="-333508" b="0"/>
              </a:stretch>
            </a:blipFill>
          </p:spPr>
        </p:sp>
        <p:sp>
          <p:nvSpPr>
            <p:cNvPr name="TextBox 17" id="17"/>
            <p:cNvSpPr txBox="true"/>
            <p:nvPr/>
          </p:nvSpPr>
          <p:spPr>
            <a:xfrm>
              <a:off x="0" y="66675"/>
              <a:ext cx="3755517" cy="11158845"/>
            </a:xfrm>
            <a:prstGeom prst="rect">
              <a:avLst/>
            </a:prstGeom>
          </p:spPr>
          <p:txBody>
            <a:bodyPr anchor="ctr" rtlCol="false" tIns="0" lIns="0" bIns="0" rIns="0"/>
            <a:lstStyle/>
            <a:p>
              <a:pPr algn="l">
                <a:lnSpc>
                  <a:spcPts val="2879"/>
                </a:lnSpc>
              </a:pPr>
              <a:r>
                <a:rPr lang="en-US" sz="3000" spc="154">
                  <a:solidFill>
                    <a:srgbClr val="FFFFFF"/>
                  </a:solidFill>
                  <a:latin typeface="Big Shoulders Display"/>
                  <a:ea typeface="Big Shoulders Display"/>
                  <a:cs typeface="Big Shoulders Display"/>
                  <a:sym typeface="Big Shoulders Display"/>
                </a:rPr>
                <a:t>Java</a:t>
              </a:r>
              <a:r>
                <a:rPr lang="en-US" sz="3000" spc="154">
                  <a:solidFill>
                    <a:srgbClr val="FFFFFF"/>
                  </a:solidFill>
                  <a:latin typeface="Big Shoulders Display"/>
                  <a:ea typeface="Big Shoulders Display"/>
                  <a:cs typeface="Big Shoulders Display"/>
                  <a:sym typeface="Big Shoulders Display"/>
                </a:rPr>
                <a:t> Project Presentation</a:t>
              </a:r>
            </a:p>
          </p:txBody>
        </p:sp>
      </p:grpSp>
    </p:spTree>
  </p:cSld>
  <p:clrMapOvr>
    <a:masterClrMapping/>
  </p:clrMapOvr>
  <p:transition spd="fast">
    <p:fade/>
  </p:transition>
</p:sld>
</file>

<file path=ppt/slides/slide5.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4FBFE">
                <a:alpha val="100000"/>
              </a:srgbClr>
            </a:gs>
            <a:gs pos="74000">
              <a:srgbClr val="99DAF3">
                <a:alpha val="100000"/>
              </a:srgbClr>
            </a:gs>
            <a:gs pos="83000">
              <a:srgbClr val="99DAF3">
                <a:alpha val="100000"/>
              </a:srgbClr>
            </a:gs>
            <a:gs pos="100000">
              <a:srgbClr val="BBE6F7">
                <a:alpha val="100000"/>
              </a:srgbClr>
            </a:gs>
          </a:gsLst>
          <a:lin ang="5400000"/>
        </a:gradFill>
      </p:bgPr>
    </p:bg>
    <p:spTree>
      <p:nvGrpSpPr>
        <p:cNvPr id="1" name=""/>
        <p:cNvGrpSpPr/>
        <p:nvPr/>
      </p:nvGrpSpPr>
      <p:grpSpPr>
        <a:xfrm>
          <a:off x="0" y="0"/>
          <a:ext cx="0" cy="0"/>
          <a:chOff x="0" y="0"/>
          <a:chExt cx="0" cy="0"/>
        </a:xfrm>
      </p:grpSpPr>
      <p:sp>
        <p:nvSpPr>
          <p:cNvPr name="AutoShape 2" id="2"/>
          <p:cNvSpPr/>
          <p:nvPr/>
        </p:nvSpPr>
        <p:spPr>
          <a:xfrm rot="-5328540">
            <a:off x="442398" y="1915849"/>
            <a:ext cx="1401013" cy="0"/>
          </a:xfrm>
          <a:prstGeom prst="line">
            <a:avLst/>
          </a:prstGeom>
          <a:ln cap="rnd" w="19050">
            <a:solidFill>
              <a:srgbClr val="1CADE4"/>
            </a:solidFill>
            <a:prstDash val="solid"/>
            <a:headEnd type="none" len="sm" w="sm"/>
            <a:tailEnd type="none" len="sm" w="sm"/>
          </a:ln>
        </p:spPr>
      </p:sp>
      <p:grpSp>
        <p:nvGrpSpPr>
          <p:cNvPr name="Group 3" id="3"/>
          <p:cNvGrpSpPr/>
          <p:nvPr/>
        </p:nvGrpSpPr>
        <p:grpSpPr>
          <a:xfrm rot="0">
            <a:off x="0" y="0"/>
            <a:ext cx="18287638" cy="10286457"/>
            <a:chOff x="0" y="0"/>
            <a:chExt cx="24383517" cy="13715276"/>
          </a:xfrm>
        </p:grpSpPr>
        <p:sp>
          <p:nvSpPr>
            <p:cNvPr name="Freeform 4" id="4">
              <a:extLst>
                <a:ext uri="{C183D7F6-B498-43B3-948B-1728B52AA6E4}">
                  <adec:decorative xmlns:adec="http://schemas.microsoft.com/office/drawing/2017/decorative" val="1"/>
                </a:ext>
              </a:extLst>
            </p:cNvPr>
            <p:cNvSpPr/>
            <p:nvPr/>
          </p:nvSpPr>
          <p:spPr>
            <a:xfrm flipH="false" flipV="false" rot="0">
              <a:off x="0" y="0"/>
              <a:ext cx="24383492" cy="13715237"/>
            </a:xfrm>
            <a:custGeom>
              <a:avLst/>
              <a:gdLst/>
              <a:ahLst/>
              <a:cxnLst/>
              <a:rect r="r" b="b" t="t" l="l"/>
              <a:pathLst>
                <a:path h="13715237" w="24383492">
                  <a:moveTo>
                    <a:pt x="0" y="0"/>
                  </a:moveTo>
                  <a:lnTo>
                    <a:pt x="24383492" y="0"/>
                  </a:lnTo>
                  <a:lnTo>
                    <a:pt x="24383492" y="13715237"/>
                  </a:lnTo>
                  <a:lnTo>
                    <a:pt x="0" y="13715237"/>
                  </a:lnTo>
                  <a:close/>
                </a:path>
              </a:pathLst>
            </a:custGeom>
            <a:solidFill>
              <a:srgbClr val="000000"/>
            </a:solidFill>
          </p:spPr>
        </p:sp>
      </p:grpSp>
      <p:grpSp>
        <p:nvGrpSpPr>
          <p:cNvPr name="Group 5" id="5"/>
          <p:cNvGrpSpPr/>
          <p:nvPr/>
        </p:nvGrpSpPr>
        <p:grpSpPr>
          <a:xfrm rot="0">
            <a:off x="4159082" y="726843"/>
            <a:ext cx="13421697" cy="8820902"/>
            <a:chOff x="0" y="0"/>
            <a:chExt cx="17895595" cy="11761203"/>
          </a:xfrm>
        </p:grpSpPr>
        <p:sp>
          <p:nvSpPr>
            <p:cNvPr name="Freeform 6" id="6">
              <a:extLst>
                <a:ext uri="{C183D7F6-B498-43B3-948B-1728B52AA6E4}">
                  <adec:decorative xmlns:adec="http://schemas.microsoft.com/office/drawing/2017/decorative" val="1"/>
                </a:ext>
              </a:extLst>
            </p:cNvPr>
            <p:cNvSpPr/>
            <p:nvPr/>
          </p:nvSpPr>
          <p:spPr>
            <a:xfrm flipH="false" flipV="false" rot="0">
              <a:off x="0" y="0"/>
              <a:ext cx="17895570" cy="11761216"/>
            </a:xfrm>
            <a:custGeom>
              <a:avLst/>
              <a:gdLst/>
              <a:ahLst/>
              <a:cxnLst/>
              <a:rect r="r" b="b" t="t" l="l"/>
              <a:pathLst>
                <a:path h="11761216" w="17895570">
                  <a:moveTo>
                    <a:pt x="0" y="0"/>
                  </a:moveTo>
                  <a:lnTo>
                    <a:pt x="17895570" y="0"/>
                  </a:lnTo>
                  <a:lnTo>
                    <a:pt x="17895570" y="11761216"/>
                  </a:lnTo>
                  <a:lnTo>
                    <a:pt x="0" y="11761216"/>
                  </a:lnTo>
                  <a:close/>
                </a:path>
              </a:pathLst>
            </a:custGeom>
            <a:solidFill>
              <a:srgbClr val="404040"/>
            </a:solidFill>
          </p:spPr>
        </p:sp>
      </p:grpSp>
      <p:grpSp>
        <p:nvGrpSpPr>
          <p:cNvPr name="Group 7" id="7"/>
          <p:cNvGrpSpPr/>
          <p:nvPr/>
        </p:nvGrpSpPr>
        <p:grpSpPr>
          <a:xfrm rot="0">
            <a:off x="5203984" y="1182595"/>
            <a:ext cx="11884323" cy="2249100"/>
            <a:chOff x="0" y="0"/>
            <a:chExt cx="15845765" cy="2998800"/>
          </a:xfrm>
        </p:grpSpPr>
        <p:sp>
          <p:nvSpPr>
            <p:cNvPr name="Freeform 8" id="8"/>
            <p:cNvSpPr/>
            <p:nvPr/>
          </p:nvSpPr>
          <p:spPr>
            <a:xfrm flipH="false" flipV="false" rot="0">
              <a:off x="0" y="0"/>
              <a:ext cx="15845760" cy="2998800"/>
            </a:xfrm>
            <a:custGeom>
              <a:avLst/>
              <a:gdLst/>
              <a:ahLst/>
              <a:cxnLst/>
              <a:rect r="r" b="b" t="t" l="l"/>
              <a:pathLst>
                <a:path h="2998800" w="15845760">
                  <a:moveTo>
                    <a:pt x="0" y="0"/>
                  </a:moveTo>
                  <a:lnTo>
                    <a:pt x="15845760" y="0"/>
                  </a:lnTo>
                  <a:lnTo>
                    <a:pt x="15845760" y="2998800"/>
                  </a:lnTo>
                  <a:lnTo>
                    <a:pt x="0" y="2998800"/>
                  </a:lnTo>
                  <a:close/>
                </a:path>
              </a:pathLst>
            </a:custGeom>
            <a:blipFill>
              <a:blip r:embed="rId2">
                <a:alphaModFix amt="0"/>
              </a:blip>
              <a:stretch>
                <a:fillRect l="0" t="-52959" r="0" b="-52959"/>
              </a:stretch>
            </a:blipFill>
          </p:spPr>
        </p:sp>
        <p:sp>
          <p:nvSpPr>
            <p:cNvPr name="TextBox 9" id="9"/>
            <p:cNvSpPr txBox="true"/>
            <p:nvPr/>
          </p:nvSpPr>
          <p:spPr>
            <a:xfrm>
              <a:off x="0" y="152400"/>
              <a:ext cx="15845765" cy="2846400"/>
            </a:xfrm>
            <a:prstGeom prst="rect">
              <a:avLst/>
            </a:prstGeom>
          </p:spPr>
          <p:txBody>
            <a:bodyPr anchor="ctr" rtlCol="false" tIns="0" lIns="0" bIns="0" rIns="0"/>
            <a:lstStyle/>
            <a:p>
              <a:pPr algn="l">
                <a:lnSpc>
                  <a:spcPts val="7200"/>
                </a:lnSpc>
              </a:pPr>
              <a:r>
                <a:rPr lang="en-US" sz="7500" spc="162">
                  <a:solidFill>
                    <a:srgbClr val="FFFFFF"/>
                  </a:solidFill>
                  <a:latin typeface="Big Shoulders Display"/>
                  <a:ea typeface="Big Shoulders Display"/>
                  <a:cs typeface="Big Shoulders Display"/>
                  <a:sym typeface="Big Shoulders Display"/>
                </a:rPr>
                <a:t>System Requirements</a:t>
              </a:r>
            </a:p>
          </p:txBody>
        </p:sp>
      </p:grpSp>
      <p:grpSp>
        <p:nvGrpSpPr>
          <p:cNvPr name="Group 10" id="10"/>
          <p:cNvGrpSpPr/>
          <p:nvPr/>
        </p:nvGrpSpPr>
        <p:grpSpPr>
          <a:xfrm rot="0">
            <a:off x="661230" y="733049"/>
            <a:ext cx="3193018" cy="8820902"/>
            <a:chOff x="0" y="0"/>
            <a:chExt cx="4257358" cy="11761203"/>
          </a:xfrm>
        </p:grpSpPr>
        <p:sp>
          <p:nvSpPr>
            <p:cNvPr name="Freeform 11" id="11">
              <a:extLst>
                <a:ext uri="{C183D7F6-B498-43B3-948B-1728B52AA6E4}">
                  <adec:decorative xmlns:adec="http://schemas.microsoft.com/office/drawing/2017/decorative" val="1"/>
                </a:ext>
              </a:extLst>
            </p:cNvPr>
            <p:cNvSpPr/>
            <p:nvPr/>
          </p:nvSpPr>
          <p:spPr>
            <a:xfrm flipH="false" flipV="false" rot="0">
              <a:off x="0" y="0"/>
              <a:ext cx="4257421" cy="11761216"/>
            </a:xfrm>
            <a:custGeom>
              <a:avLst/>
              <a:gdLst/>
              <a:ahLst/>
              <a:cxnLst/>
              <a:rect r="r" b="b" t="t" l="l"/>
              <a:pathLst>
                <a:path h="11761216" w="4257421">
                  <a:moveTo>
                    <a:pt x="0" y="0"/>
                  </a:moveTo>
                  <a:lnTo>
                    <a:pt x="4257421" y="0"/>
                  </a:lnTo>
                  <a:lnTo>
                    <a:pt x="4257421" y="11761216"/>
                  </a:lnTo>
                  <a:lnTo>
                    <a:pt x="0" y="11761216"/>
                  </a:lnTo>
                  <a:close/>
                </a:path>
              </a:pathLst>
            </a:custGeom>
            <a:solidFill>
              <a:srgbClr val="1CADE4"/>
            </a:solidFill>
          </p:spPr>
        </p:sp>
      </p:grpSp>
      <p:sp>
        <p:nvSpPr>
          <p:cNvPr name="TextBox 12" id="12"/>
          <p:cNvSpPr txBox="true"/>
          <p:nvPr/>
        </p:nvSpPr>
        <p:spPr>
          <a:xfrm rot="0">
            <a:off x="5249704" y="3717171"/>
            <a:ext cx="11792883" cy="4259198"/>
          </a:xfrm>
          <a:prstGeom prst="rect">
            <a:avLst/>
          </a:prstGeom>
        </p:spPr>
        <p:txBody>
          <a:bodyPr anchor="t" rtlCol="false" tIns="0" lIns="0" bIns="0" rIns="0">
            <a:spAutoFit/>
          </a:bodyPr>
          <a:lstStyle/>
          <a:p>
            <a:pPr algn="l">
              <a:lnSpc>
                <a:spcPts val="4157"/>
              </a:lnSpc>
            </a:pPr>
            <a:r>
              <a:rPr lang="en-US" sz="3849">
                <a:solidFill>
                  <a:srgbClr val="FFFFFF"/>
                </a:solidFill>
                <a:latin typeface="Arimo"/>
                <a:ea typeface="Arimo"/>
                <a:cs typeface="Arimo"/>
                <a:sym typeface="Arimo"/>
              </a:rPr>
              <a:t>Hardware Requirements</a:t>
            </a:r>
          </a:p>
          <a:p>
            <a:pPr algn="l">
              <a:lnSpc>
                <a:spcPts val="4157"/>
              </a:lnSpc>
            </a:pPr>
            <a:r>
              <a:rPr lang="en-US" sz="3849">
                <a:solidFill>
                  <a:srgbClr val="FFFFFF"/>
                </a:solidFill>
                <a:latin typeface="Arimo"/>
                <a:ea typeface="Arimo"/>
                <a:cs typeface="Arimo"/>
                <a:sym typeface="Arimo"/>
              </a:rPr>
              <a:t>Computer / Laptop </a:t>
            </a:r>
          </a:p>
          <a:p>
            <a:pPr algn="l">
              <a:lnSpc>
                <a:spcPts val="4157"/>
              </a:lnSpc>
            </a:pPr>
            <a:r>
              <a:rPr lang="en-US" sz="3849">
                <a:solidFill>
                  <a:srgbClr val="FFFFFF"/>
                </a:solidFill>
                <a:latin typeface="Arimo"/>
                <a:ea typeface="Arimo"/>
                <a:cs typeface="Arimo"/>
                <a:sym typeface="Arimo"/>
              </a:rPr>
              <a:t>Minimum 4GB RAM </a:t>
            </a:r>
          </a:p>
          <a:p>
            <a:pPr algn="l">
              <a:lnSpc>
                <a:spcPts val="4373"/>
              </a:lnSpc>
            </a:pPr>
          </a:p>
          <a:p>
            <a:pPr algn="l">
              <a:lnSpc>
                <a:spcPts val="4157"/>
              </a:lnSpc>
            </a:pPr>
            <a:r>
              <a:rPr lang="en-US" sz="3849">
                <a:solidFill>
                  <a:srgbClr val="FFFFFF"/>
                </a:solidFill>
                <a:latin typeface="Arimo"/>
                <a:ea typeface="Arimo"/>
                <a:cs typeface="Arimo"/>
                <a:sym typeface="Arimo"/>
              </a:rPr>
              <a:t>Software Requirements</a:t>
            </a:r>
          </a:p>
          <a:p>
            <a:pPr algn="l">
              <a:lnSpc>
                <a:spcPts val="4157"/>
              </a:lnSpc>
            </a:pPr>
            <a:r>
              <a:rPr lang="en-US" sz="3849">
                <a:solidFill>
                  <a:srgbClr val="FFFFFF"/>
                </a:solidFill>
                <a:latin typeface="Arimo"/>
                <a:ea typeface="Arimo"/>
                <a:cs typeface="Arimo"/>
                <a:sym typeface="Arimo"/>
              </a:rPr>
              <a:t>Java (JDK 8 or above) </a:t>
            </a:r>
          </a:p>
          <a:p>
            <a:pPr algn="l">
              <a:lnSpc>
                <a:spcPts val="4157"/>
              </a:lnSpc>
            </a:pPr>
            <a:r>
              <a:rPr lang="en-US" sz="3849">
                <a:solidFill>
                  <a:srgbClr val="FFFFFF"/>
                </a:solidFill>
                <a:latin typeface="Arimo"/>
                <a:ea typeface="Arimo"/>
                <a:cs typeface="Arimo"/>
                <a:sym typeface="Arimo"/>
              </a:rPr>
              <a:t>Any IDE (Eclipse / IntelliJ / VS Code) </a:t>
            </a:r>
          </a:p>
          <a:p>
            <a:pPr algn="l">
              <a:lnSpc>
                <a:spcPts val="4157"/>
              </a:lnSpc>
            </a:pPr>
          </a:p>
        </p:txBody>
      </p:sp>
      <p:grpSp>
        <p:nvGrpSpPr>
          <p:cNvPr name="Group 13" id="13"/>
          <p:cNvGrpSpPr/>
          <p:nvPr/>
        </p:nvGrpSpPr>
        <p:grpSpPr>
          <a:xfrm rot="0">
            <a:off x="849420" y="982256"/>
            <a:ext cx="2816638" cy="703621"/>
            <a:chOff x="0" y="0"/>
            <a:chExt cx="3755517" cy="938162"/>
          </a:xfrm>
        </p:grpSpPr>
        <p:sp>
          <p:nvSpPr>
            <p:cNvPr name="Freeform 14" id="14" descr="A blue and red logo  AI-generated content may be incorrect."/>
            <p:cNvSpPr/>
            <p:nvPr/>
          </p:nvSpPr>
          <p:spPr>
            <a:xfrm flipH="false" flipV="false" rot="0">
              <a:off x="0" y="0"/>
              <a:ext cx="3755517" cy="938149"/>
            </a:xfrm>
            <a:custGeom>
              <a:avLst/>
              <a:gdLst/>
              <a:ahLst/>
              <a:cxnLst/>
              <a:rect r="r" b="b" t="t" l="l"/>
              <a:pathLst>
                <a:path h="938149" w="3755517">
                  <a:moveTo>
                    <a:pt x="0" y="0"/>
                  </a:moveTo>
                  <a:lnTo>
                    <a:pt x="3755517" y="0"/>
                  </a:lnTo>
                  <a:lnTo>
                    <a:pt x="3755517" y="938149"/>
                  </a:lnTo>
                  <a:lnTo>
                    <a:pt x="0" y="938149"/>
                  </a:lnTo>
                  <a:lnTo>
                    <a:pt x="0" y="0"/>
                  </a:lnTo>
                  <a:close/>
                </a:path>
              </a:pathLst>
            </a:custGeom>
            <a:blipFill>
              <a:blip r:embed="rId3"/>
              <a:stretch>
                <a:fillRect l="0" t="-37" r="0" b="-40"/>
              </a:stretch>
            </a:blipFill>
          </p:spPr>
        </p:sp>
      </p:grpSp>
      <p:grpSp>
        <p:nvGrpSpPr>
          <p:cNvPr name="Group 15" id="15"/>
          <p:cNvGrpSpPr/>
          <p:nvPr/>
        </p:nvGrpSpPr>
        <p:grpSpPr>
          <a:xfrm rot="0">
            <a:off x="849420" y="885063"/>
            <a:ext cx="2816638" cy="8419140"/>
            <a:chOff x="0" y="0"/>
            <a:chExt cx="3755517" cy="11225520"/>
          </a:xfrm>
        </p:grpSpPr>
        <p:sp>
          <p:nvSpPr>
            <p:cNvPr name="Freeform 16" id="16"/>
            <p:cNvSpPr/>
            <p:nvPr/>
          </p:nvSpPr>
          <p:spPr>
            <a:xfrm flipH="false" flipV="false" rot="0">
              <a:off x="0" y="0"/>
              <a:ext cx="3755520" cy="11225523"/>
            </a:xfrm>
            <a:custGeom>
              <a:avLst/>
              <a:gdLst/>
              <a:ahLst/>
              <a:cxnLst/>
              <a:rect r="r" b="b" t="t" l="l"/>
              <a:pathLst>
                <a:path h="11225523" w="3755520">
                  <a:moveTo>
                    <a:pt x="0" y="0"/>
                  </a:moveTo>
                  <a:lnTo>
                    <a:pt x="3755520" y="0"/>
                  </a:lnTo>
                  <a:lnTo>
                    <a:pt x="3755520" y="11225523"/>
                  </a:lnTo>
                  <a:lnTo>
                    <a:pt x="0" y="11225523"/>
                  </a:lnTo>
                  <a:close/>
                </a:path>
              </a:pathLst>
            </a:custGeom>
            <a:blipFill>
              <a:blip r:embed="rId2">
                <a:alphaModFix amt="0"/>
              </a:blip>
              <a:stretch>
                <a:fillRect l="-333508" t="0" r="-333508" b="0"/>
              </a:stretch>
            </a:blipFill>
          </p:spPr>
        </p:sp>
        <p:sp>
          <p:nvSpPr>
            <p:cNvPr name="TextBox 17" id="17"/>
            <p:cNvSpPr txBox="true"/>
            <p:nvPr/>
          </p:nvSpPr>
          <p:spPr>
            <a:xfrm>
              <a:off x="0" y="66675"/>
              <a:ext cx="3755517" cy="11158845"/>
            </a:xfrm>
            <a:prstGeom prst="rect">
              <a:avLst/>
            </a:prstGeom>
          </p:spPr>
          <p:txBody>
            <a:bodyPr anchor="ctr" rtlCol="false" tIns="0" lIns="0" bIns="0" rIns="0"/>
            <a:lstStyle/>
            <a:p>
              <a:pPr algn="l">
                <a:lnSpc>
                  <a:spcPts val="2879"/>
                </a:lnSpc>
              </a:pPr>
              <a:r>
                <a:rPr lang="en-US" sz="3000" spc="154">
                  <a:solidFill>
                    <a:srgbClr val="FFFFFF"/>
                  </a:solidFill>
                  <a:latin typeface="Big Shoulders Display"/>
                  <a:ea typeface="Big Shoulders Display"/>
                  <a:cs typeface="Big Shoulders Display"/>
                  <a:sym typeface="Big Shoulders Display"/>
                </a:rPr>
                <a:t>Java</a:t>
              </a:r>
              <a:r>
                <a:rPr lang="en-US" sz="3000" spc="154">
                  <a:solidFill>
                    <a:srgbClr val="FFFFFF"/>
                  </a:solidFill>
                  <a:latin typeface="Big Shoulders Display"/>
                  <a:ea typeface="Big Shoulders Display"/>
                  <a:cs typeface="Big Shoulders Display"/>
                  <a:sym typeface="Big Shoulders Display"/>
                </a:rPr>
                <a:t> Project Presentation</a:t>
              </a:r>
            </a:p>
          </p:txBody>
        </p:sp>
      </p:grpSp>
    </p:spTree>
  </p:cSld>
  <p:clrMapOvr>
    <a:masterClrMapping/>
  </p:clrMapOvr>
  <p:transition spd="fast">
    <p:fade/>
  </p:transition>
</p:sld>
</file>

<file path=ppt/slides/slide6.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4FBFE">
                <a:alpha val="100000"/>
              </a:srgbClr>
            </a:gs>
            <a:gs pos="74000">
              <a:srgbClr val="99DAF3">
                <a:alpha val="100000"/>
              </a:srgbClr>
            </a:gs>
            <a:gs pos="83000">
              <a:srgbClr val="99DAF3">
                <a:alpha val="100000"/>
              </a:srgbClr>
            </a:gs>
            <a:gs pos="100000">
              <a:srgbClr val="BBE6F7">
                <a:alpha val="100000"/>
              </a:srgbClr>
            </a:gs>
          </a:gsLst>
          <a:lin ang="5400000"/>
        </a:gradFill>
      </p:bgPr>
    </p:bg>
    <p:spTree>
      <p:nvGrpSpPr>
        <p:cNvPr id="1" name=""/>
        <p:cNvGrpSpPr/>
        <p:nvPr/>
      </p:nvGrpSpPr>
      <p:grpSpPr>
        <a:xfrm>
          <a:off x="0" y="0"/>
          <a:ext cx="0" cy="0"/>
          <a:chOff x="0" y="0"/>
          <a:chExt cx="0" cy="0"/>
        </a:xfrm>
      </p:grpSpPr>
      <p:sp>
        <p:nvSpPr>
          <p:cNvPr name="AutoShape 2" id="2"/>
          <p:cNvSpPr/>
          <p:nvPr/>
        </p:nvSpPr>
        <p:spPr>
          <a:xfrm rot="-5328540">
            <a:off x="442398" y="1915849"/>
            <a:ext cx="1401013" cy="0"/>
          </a:xfrm>
          <a:prstGeom prst="line">
            <a:avLst/>
          </a:prstGeom>
          <a:ln cap="rnd" w="19050">
            <a:solidFill>
              <a:srgbClr val="1CADE4"/>
            </a:solidFill>
            <a:prstDash val="solid"/>
            <a:headEnd type="none" len="sm" w="sm"/>
            <a:tailEnd type="none" len="sm" w="sm"/>
          </a:ln>
        </p:spPr>
      </p:sp>
      <p:grpSp>
        <p:nvGrpSpPr>
          <p:cNvPr name="Group 3" id="3"/>
          <p:cNvGrpSpPr/>
          <p:nvPr/>
        </p:nvGrpSpPr>
        <p:grpSpPr>
          <a:xfrm rot="0">
            <a:off x="0" y="0"/>
            <a:ext cx="18287638" cy="10286457"/>
            <a:chOff x="0" y="0"/>
            <a:chExt cx="24383517" cy="13715276"/>
          </a:xfrm>
        </p:grpSpPr>
        <p:sp>
          <p:nvSpPr>
            <p:cNvPr name="Freeform 4" id="4">
              <a:extLst>
                <a:ext uri="{C183D7F6-B498-43B3-948B-1728B52AA6E4}">
                  <adec:decorative xmlns:adec="http://schemas.microsoft.com/office/drawing/2017/decorative" val="1"/>
                </a:ext>
              </a:extLst>
            </p:cNvPr>
            <p:cNvSpPr/>
            <p:nvPr/>
          </p:nvSpPr>
          <p:spPr>
            <a:xfrm flipH="false" flipV="false" rot="0">
              <a:off x="0" y="0"/>
              <a:ext cx="24383492" cy="13715237"/>
            </a:xfrm>
            <a:custGeom>
              <a:avLst/>
              <a:gdLst/>
              <a:ahLst/>
              <a:cxnLst/>
              <a:rect r="r" b="b" t="t" l="l"/>
              <a:pathLst>
                <a:path h="13715237" w="24383492">
                  <a:moveTo>
                    <a:pt x="0" y="0"/>
                  </a:moveTo>
                  <a:lnTo>
                    <a:pt x="24383492" y="0"/>
                  </a:lnTo>
                  <a:lnTo>
                    <a:pt x="24383492" y="13715237"/>
                  </a:lnTo>
                  <a:lnTo>
                    <a:pt x="0" y="13715237"/>
                  </a:lnTo>
                  <a:close/>
                </a:path>
              </a:pathLst>
            </a:custGeom>
            <a:solidFill>
              <a:srgbClr val="000000"/>
            </a:solidFill>
          </p:spPr>
        </p:sp>
      </p:grpSp>
      <p:grpSp>
        <p:nvGrpSpPr>
          <p:cNvPr name="Group 5" id="5"/>
          <p:cNvGrpSpPr/>
          <p:nvPr/>
        </p:nvGrpSpPr>
        <p:grpSpPr>
          <a:xfrm rot="0">
            <a:off x="4159082" y="726843"/>
            <a:ext cx="13421697" cy="8820902"/>
            <a:chOff x="0" y="0"/>
            <a:chExt cx="17895595" cy="11761203"/>
          </a:xfrm>
        </p:grpSpPr>
        <p:sp>
          <p:nvSpPr>
            <p:cNvPr name="Freeform 6" id="6">
              <a:extLst>
                <a:ext uri="{C183D7F6-B498-43B3-948B-1728B52AA6E4}">
                  <adec:decorative xmlns:adec="http://schemas.microsoft.com/office/drawing/2017/decorative" val="1"/>
                </a:ext>
              </a:extLst>
            </p:cNvPr>
            <p:cNvSpPr/>
            <p:nvPr/>
          </p:nvSpPr>
          <p:spPr>
            <a:xfrm flipH="false" flipV="false" rot="0">
              <a:off x="0" y="0"/>
              <a:ext cx="17895570" cy="11761216"/>
            </a:xfrm>
            <a:custGeom>
              <a:avLst/>
              <a:gdLst/>
              <a:ahLst/>
              <a:cxnLst/>
              <a:rect r="r" b="b" t="t" l="l"/>
              <a:pathLst>
                <a:path h="11761216" w="17895570">
                  <a:moveTo>
                    <a:pt x="0" y="0"/>
                  </a:moveTo>
                  <a:lnTo>
                    <a:pt x="17895570" y="0"/>
                  </a:lnTo>
                  <a:lnTo>
                    <a:pt x="17895570" y="11761216"/>
                  </a:lnTo>
                  <a:lnTo>
                    <a:pt x="0" y="11761216"/>
                  </a:lnTo>
                  <a:close/>
                </a:path>
              </a:pathLst>
            </a:custGeom>
            <a:solidFill>
              <a:srgbClr val="404040"/>
            </a:solidFill>
          </p:spPr>
        </p:sp>
      </p:grpSp>
      <p:grpSp>
        <p:nvGrpSpPr>
          <p:cNvPr name="Group 7" id="7"/>
          <p:cNvGrpSpPr/>
          <p:nvPr/>
        </p:nvGrpSpPr>
        <p:grpSpPr>
          <a:xfrm rot="0">
            <a:off x="5203984" y="1182595"/>
            <a:ext cx="11884323" cy="2249100"/>
            <a:chOff x="0" y="0"/>
            <a:chExt cx="15845765" cy="2998800"/>
          </a:xfrm>
        </p:grpSpPr>
        <p:sp>
          <p:nvSpPr>
            <p:cNvPr name="Freeform 8" id="8"/>
            <p:cNvSpPr/>
            <p:nvPr/>
          </p:nvSpPr>
          <p:spPr>
            <a:xfrm flipH="false" flipV="false" rot="0">
              <a:off x="0" y="0"/>
              <a:ext cx="15845760" cy="2998800"/>
            </a:xfrm>
            <a:custGeom>
              <a:avLst/>
              <a:gdLst/>
              <a:ahLst/>
              <a:cxnLst/>
              <a:rect r="r" b="b" t="t" l="l"/>
              <a:pathLst>
                <a:path h="2998800" w="15845760">
                  <a:moveTo>
                    <a:pt x="0" y="0"/>
                  </a:moveTo>
                  <a:lnTo>
                    <a:pt x="15845760" y="0"/>
                  </a:lnTo>
                  <a:lnTo>
                    <a:pt x="15845760" y="2998800"/>
                  </a:lnTo>
                  <a:lnTo>
                    <a:pt x="0" y="2998800"/>
                  </a:lnTo>
                  <a:close/>
                </a:path>
              </a:pathLst>
            </a:custGeom>
            <a:blipFill>
              <a:blip r:embed="rId2">
                <a:alphaModFix amt="0"/>
              </a:blip>
              <a:stretch>
                <a:fillRect l="0" t="-52959" r="0" b="-52959"/>
              </a:stretch>
            </a:blipFill>
          </p:spPr>
        </p:sp>
        <p:sp>
          <p:nvSpPr>
            <p:cNvPr name="TextBox 9" id="9"/>
            <p:cNvSpPr txBox="true"/>
            <p:nvPr/>
          </p:nvSpPr>
          <p:spPr>
            <a:xfrm>
              <a:off x="0" y="152400"/>
              <a:ext cx="15845765" cy="2846400"/>
            </a:xfrm>
            <a:prstGeom prst="rect">
              <a:avLst/>
            </a:prstGeom>
          </p:spPr>
          <p:txBody>
            <a:bodyPr anchor="ctr" rtlCol="false" tIns="0" lIns="0" bIns="0" rIns="0"/>
            <a:lstStyle/>
            <a:p>
              <a:pPr algn="l">
                <a:lnSpc>
                  <a:spcPts val="7200"/>
                </a:lnSpc>
              </a:pPr>
              <a:r>
                <a:rPr lang="en-US" sz="7500" spc="162">
                  <a:solidFill>
                    <a:srgbClr val="FFFFFF"/>
                  </a:solidFill>
                  <a:latin typeface="Big Shoulders Display"/>
                  <a:ea typeface="Big Shoulders Display"/>
                  <a:cs typeface="Big Shoulders Display"/>
                  <a:sym typeface="Big Shoulders Display"/>
                </a:rPr>
                <a:t>System Design</a:t>
              </a:r>
            </a:p>
          </p:txBody>
        </p:sp>
      </p:grpSp>
      <p:grpSp>
        <p:nvGrpSpPr>
          <p:cNvPr name="Group 10" id="10"/>
          <p:cNvGrpSpPr/>
          <p:nvPr/>
        </p:nvGrpSpPr>
        <p:grpSpPr>
          <a:xfrm rot="0">
            <a:off x="712803" y="726843"/>
            <a:ext cx="3193018" cy="8820902"/>
            <a:chOff x="0" y="0"/>
            <a:chExt cx="4257358" cy="11761203"/>
          </a:xfrm>
        </p:grpSpPr>
        <p:sp>
          <p:nvSpPr>
            <p:cNvPr name="Freeform 11" id="11">
              <a:extLst>
                <a:ext uri="{C183D7F6-B498-43B3-948B-1728B52AA6E4}">
                  <adec:decorative xmlns:adec="http://schemas.microsoft.com/office/drawing/2017/decorative" val="1"/>
                </a:ext>
              </a:extLst>
            </p:cNvPr>
            <p:cNvSpPr/>
            <p:nvPr/>
          </p:nvSpPr>
          <p:spPr>
            <a:xfrm flipH="false" flipV="false" rot="0">
              <a:off x="0" y="0"/>
              <a:ext cx="4257421" cy="11761216"/>
            </a:xfrm>
            <a:custGeom>
              <a:avLst/>
              <a:gdLst/>
              <a:ahLst/>
              <a:cxnLst/>
              <a:rect r="r" b="b" t="t" l="l"/>
              <a:pathLst>
                <a:path h="11761216" w="4257421">
                  <a:moveTo>
                    <a:pt x="0" y="0"/>
                  </a:moveTo>
                  <a:lnTo>
                    <a:pt x="4257421" y="0"/>
                  </a:lnTo>
                  <a:lnTo>
                    <a:pt x="4257421" y="11761216"/>
                  </a:lnTo>
                  <a:lnTo>
                    <a:pt x="0" y="11761216"/>
                  </a:lnTo>
                  <a:close/>
                </a:path>
              </a:pathLst>
            </a:custGeom>
            <a:solidFill>
              <a:srgbClr val="1CADE4"/>
            </a:solidFill>
          </p:spPr>
        </p:sp>
      </p:grpSp>
      <p:sp>
        <p:nvSpPr>
          <p:cNvPr name="TextBox 12" id="12"/>
          <p:cNvSpPr txBox="true"/>
          <p:nvPr/>
        </p:nvSpPr>
        <p:spPr>
          <a:xfrm rot="0">
            <a:off x="4669136" y="2326196"/>
            <a:ext cx="11792883" cy="6600063"/>
          </a:xfrm>
          <a:prstGeom prst="rect">
            <a:avLst/>
          </a:prstGeom>
        </p:spPr>
        <p:txBody>
          <a:bodyPr anchor="t" rtlCol="false" tIns="0" lIns="0" bIns="0" rIns="0">
            <a:spAutoFit/>
          </a:bodyPr>
          <a:lstStyle/>
          <a:p>
            <a:pPr algn="l">
              <a:lnSpc>
                <a:spcPts val="3995"/>
              </a:lnSpc>
            </a:pPr>
          </a:p>
          <a:p>
            <a:pPr algn="l">
              <a:lnSpc>
                <a:spcPts val="3995"/>
              </a:lnSpc>
            </a:pPr>
          </a:p>
          <a:p>
            <a:pPr algn="l" marL="798825" indent="-399412" lvl="1">
              <a:lnSpc>
                <a:spcPts val="3995"/>
              </a:lnSpc>
              <a:buFont typeface="Arial"/>
              <a:buChar char="•"/>
            </a:pPr>
            <a:r>
              <a:rPr lang="en-US" sz="3699">
                <a:solidFill>
                  <a:srgbClr val="FFFFFF"/>
                </a:solidFill>
                <a:latin typeface="Arimo"/>
                <a:ea typeface="Arimo"/>
                <a:cs typeface="Arimo"/>
                <a:sym typeface="Arimo"/>
              </a:rPr>
              <a:t>Menu Management</a:t>
            </a:r>
          </a:p>
          <a:p>
            <a:pPr algn="l" marL="798825" indent="-399412" lvl="1">
              <a:lnSpc>
                <a:spcPts val="3995"/>
              </a:lnSpc>
              <a:buFont typeface="Arial"/>
              <a:buChar char="•"/>
            </a:pPr>
            <a:r>
              <a:rPr lang="en-US" sz="3699">
                <a:solidFill>
                  <a:srgbClr val="FFFFFF"/>
                </a:solidFill>
                <a:latin typeface="Arimo"/>
                <a:ea typeface="Arimo"/>
                <a:cs typeface="Arimo"/>
                <a:sym typeface="Arimo"/>
              </a:rPr>
              <a:t>Displays available food items and prices.</a:t>
            </a:r>
          </a:p>
          <a:p>
            <a:pPr algn="l" marL="798825" indent="-399412" lvl="1">
              <a:lnSpc>
                <a:spcPts val="3995"/>
              </a:lnSpc>
              <a:buFont typeface="Arial"/>
              <a:buChar char="•"/>
            </a:pPr>
            <a:r>
              <a:rPr lang="en-US" sz="3699">
                <a:solidFill>
                  <a:srgbClr val="FFFFFF"/>
                </a:solidFill>
                <a:latin typeface="Arimo"/>
                <a:ea typeface="Arimo"/>
                <a:cs typeface="Arimo"/>
                <a:sym typeface="Arimo"/>
              </a:rPr>
              <a:t>Order Processing</a:t>
            </a:r>
          </a:p>
          <a:p>
            <a:pPr algn="l" marL="798825" indent="-399412" lvl="1">
              <a:lnSpc>
                <a:spcPts val="3995"/>
              </a:lnSpc>
              <a:buFont typeface="Arial"/>
              <a:buChar char="•"/>
            </a:pPr>
            <a:r>
              <a:rPr lang="en-US" sz="3699">
                <a:solidFill>
                  <a:srgbClr val="FFFFFF"/>
                </a:solidFill>
                <a:latin typeface="Arimo"/>
                <a:ea typeface="Arimo"/>
                <a:cs typeface="Arimo"/>
                <a:sym typeface="Arimo"/>
              </a:rPr>
              <a:t>Takes customer orders.</a:t>
            </a:r>
          </a:p>
          <a:p>
            <a:pPr algn="l" marL="798825" indent="-399412" lvl="1">
              <a:lnSpc>
                <a:spcPts val="3995"/>
              </a:lnSpc>
              <a:buFont typeface="Arial"/>
              <a:buChar char="•"/>
            </a:pPr>
            <a:r>
              <a:rPr lang="en-US" sz="3699">
                <a:solidFill>
                  <a:srgbClr val="FFFFFF"/>
                </a:solidFill>
                <a:latin typeface="Arimo"/>
                <a:ea typeface="Arimo"/>
                <a:cs typeface="Arimo"/>
                <a:sym typeface="Arimo"/>
              </a:rPr>
              <a:t>Stores item quantities.</a:t>
            </a:r>
          </a:p>
          <a:p>
            <a:pPr algn="l" marL="798825" indent="-399412" lvl="1">
              <a:lnSpc>
                <a:spcPts val="3995"/>
              </a:lnSpc>
              <a:buFont typeface="Arial"/>
              <a:buChar char="•"/>
            </a:pPr>
            <a:r>
              <a:rPr lang="en-US" sz="3699">
                <a:solidFill>
                  <a:srgbClr val="FFFFFF"/>
                </a:solidFill>
                <a:latin typeface="Arimo"/>
                <a:ea typeface="Arimo"/>
                <a:cs typeface="Arimo"/>
                <a:sym typeface="Arimo"/>
              </a:rPr>
              <a:t>Billing System</a:t>
            </a:r>
          </a:p>
          <a:p>
            <a:pPr algn="l" marL="798825" indent="-399412" lvl="1">
              <a:lnSpc>
                <a:spcPts val="3995"/>
              </a:lnSpc>
              <a:buFont typeface="Arial"/>
              <a:buChar char="•"/>
            </a:pPr>
            <a:r>
              <a:rPr lang="en-US" sz="3699">
                <a:solidFill>
                  <a:srgbClr val="FFFFFF"/>
                </a:solidFill>
                <a:latin typeface="Arimo"/>
                <a:ea typeface="Arimo"/>
                <a:cs typeface="Arimo"/>
                <a:sym typeface="Arimo"/>
              </a:rPr>
              <a:t>Calculates total cost.</a:t>
            </a:r>
          </a:p>
          <a:p>
            <a:pPr algn="l" marL="798825" indent="-399412" lvl="1">
              <a:lnSpc>
                <a:spcPts val="3995"/>
              </a:lnSpc>
              <a:buFont typeface="Arial"/>
              <a:buChar char="•"/>
            </a:pPr>
            <a:r>
              <a:rPr lang="en-US" sz="3699">
                <a:solidFill>
                  <a:srgbClr val="FFFFFF"/>
                </a:solidFill>
                <a:latin typeface="Arimo"/>
                <a:ea typeface="Arimo"/>
                <a:cs typeface="Arimo"/>
                <a:sym typeface="Arimo"/>
              </a:rPr>
              <a:t>Applies tax if needed.</a:t>
            </a:r>
          </a:p>
          <a:p>
            <a:pPr algn="l" marL="798825" indent="-399412" lvl="1">
              <a:lnSpc>
                <a:spcPts val="3995"/>
              </a:lnSpc>
              <a:buFont typeface="Arial"/>
              <a:buChar char="•"/>
            </a:pPr>
            <a:r>
              <a:rPr lang="en-US" sz="3699">
                <a:solidFill>
                  <a:srgbClr val="FFFFFF"/>
                </a:solidFill>
                <a:latin typeface="Arimo"/>
                <a:ea typeface="Arimo"/>
                <a:cs typeface="Arimo"/>
                <a:sym typeface="Arimo"/>
              </a:rPr>
              <a:t>Receipt Generation</a:t>
            </a:r>
          </a:p>
          <a:p>
            <a:pPr algn="l" marL="798825" indent="-399412" lvl="1">
              <a:lnSpc>
                <a:spcPts val="3995"/>
              </a:lnSpc>
              <a:buFont typeface="Arial"/>
              <a:buChar char="•"/>
            </a:pPr>
            <a:r>
              <a:rPr lang="en-US" sz="3699">
                <a:solidFill>
                  <a:srgbClr val="FFFFFF"/>
                </a:solidFill>
                <a:latin typeface="Arimo"/>
                <a:ea typeface="Arimo"/>
                <a:cs typeface="Arimo"/>
                <a:sym typeface="Arimo"/>
              </a:rPr>
              <a:t>Prints formatted bill.</a:t>
            </a:r>
          </a:p>
          <a:p>
            <a:pPr algn="l">
              <a:lnSpc>
                <a:spcPts val="3995"/>
              </a:lnSpc>
            </a:pPr>
          </a:p>
        </p:txBody>
      </p:sp>
      <p:grpSp>
        <p:nvGrpSpPr>
          <p:cNvPr name="Group 13" id="13"/>
          <p:cNvGrpSpPr/>
          <p:nvPr/>
        </p:nvGrpSpPr>
        <p:grpSpPr>
          <a:xfrm rot="0">
            <a:off x="849420" y="982256"/>
            <a:ext cx="2816638" cy="703621"/>
            <a:chOff x="0" y="0"/>
            <a:chExt cx="3755517" cy="938162"/>
          </a:xfrm>
        </p:grpSpPr>
        <p:sp>
          <p:nvSpPr>
            <p:cNvPr name="Freeform 14" id="14" descr="A blue and red logo  AI-generated content may be incorrect."/>
            <p:cNvSpPr/>
            <p:nvPr/>
          </p:nvSpPr>
          <p:spPr>
            <a:xfrm flipH="false" flipV="false" rot="0">
              <a:off x="0" y="0"/>
              <a:ext cx="3755517" cy="938149"/>
            </a:xfrm>
            <a:custGeom>
              <a:avLst/>
              <a:gdLst/>
              <a:ahLst/>
              <a:cxnLst/>
              <a:rect r="r" b="b" t="t" l="l"/>
              <a:pathLst>
                <a:path h="938149" w="3755517">
                  <a:moveTo>
                    <a:pt x="0" y="0"/>
                  </a:moveTo>
                  <a:lnTo>
                    <a:pt x="3755517" y="0"/>
                  </a:lnTo>
                  <a:lnTo>
                    <a:pt x="3755517" y="938149"/>
                  </a:lnTo>
                  <a:lnTo>
                    <a:pt x="0" y="938149"/>
                  </a:lnTo>
                  <a:lnTo>
                    <a:pt x="0" y="0"/>
                  </a:lnTo>
                  <a:close/>
                </a:path>
              </a:pathLst>
            </a:custGeom>
            <a:blipFill>
              <a:blip r:embed="rId3"/>
              <a:stretch>
                <a:fillRect l="0" t="-37" r="0" b="-40"/>
              </a:stretch>
            </a:blipFill>
          </p:spPr>
        </p:sp>
      </p:grpSp>
      <p:grpSp>
        <p:nvGrpSpPr>
          <p:cNvPr name="Group 15" id="15"/>
          <p:cNvGrpSpPr/>
          <p:nvPr/>
        </p:nvGrpSpPr>
        <p:grpSpPr>
          <a:xfrm rot="0">
            <a:off x="849420" y="885063"/>
            <a:ext cx="2816638" cy="8419140"/>
            <a:chOff x="0" y="0"/>
            <a:chExt cx="3755517" cy="11225520"/>
          </a:xfrm>
        </p:grpSpPr>
        <p:sp>
          <p:nvSpPr>
            <p:cNvPr name="Freeform 16" id="16"/>
            <p:cNvSpPr/>
            <p:nvPr/>
          </p:nvSpPr>
          <p:spPr>
            <a:xfrm flipH="false" flipV="false" rot="0">
              <a:off x="0" y="0"/>
              <a:ext cx="3755520" cy="11225523"/>
            </a:xfrm>
            <a:custGeom>
              <a:avLst/>
              <a:gdLst/>
              <a:ahLst/>
              <a:cxnLst/>
              <a:rect r="r" b="b" t="t" l="l"/>
              <a:pathLst>
                <a:path h="11225523" w="3755520">
                  <a:moveTo>
                    <a:pt x="0" y="0"/>
                  </a:moveTo>
                  <a:lnTo>
                    <a:pt x="3755520" y="0"/>
                  </a:lnTo>
                  <a:lnTo>
                    <a:pt x="3755520" y="11225523"/>
                  </a:lnTo>
                  <a:lnTo>
                    <a:pt x="0" y="11225523"/>
                  </a:lnTo>
                  <a:close/>
                </a:path>
              </a:pathLst>
            </a:custGeom>
            <a:blipFill>
              <a:blip r:embed="rId2">
                <a:alphaModFix amt="0"/>
              </a:blip>
              <a:stretch>
                <a:fillRect l="-333508" t="0" r="-333508" b="0"/>
              </a:stretch>
            </a:blipFill>
          </p:spPr>
        </p:sp>
        <p:sp>
          <p:nvSpPr>
            <p:cNvPr name="TextBox 17" id="17"/>
            <p:cNvSpPr txBox="true"/>
            <p:nvPr/>
          </p:nvSpPr>
          <p:spPr>
            <a:xfrm>
              <a:off x="0" y="66675"/>
              <a:ext cx="3755517" cy="11158845"/>
            </a:xfrm>
            <a:prstGeom prst="rect">
              <a:avLst/>
            </a:prstGeom>
          </p:spPr>
          <p:txBody>
            <a:bodyPr anchor="ctr" rtlCol="false" tIns="0" lIns="0" bIns="0" rIns="0"/>
            <a:lstStyle/>
            <a:p>
              <a:pPr algn="l">
                <a:lnSpc>
                  <a:spcPts val="2879"/>
                </a:lnSpc>
              </a:pPr>
              <a:r>
                <a:rPr lang="en-US" sz="3000" spc="154">
                  <a:solidFill>
                    <a:srgbClr val="FFFFFF"/>
                  </a:solidFill>
                  <a:latin typeface="Big Shoulders Display"/>
                  <a:ea typeface="Big Shoulders Display"/>
                  <a:cs typeface="Big Shoulders Display"/>
                  <a:sym typeface="Big Shoulders Display"/>
                </a:rPr>
                <a:t>Java</a:t>
              </a:r>
              <a:r>
                <a:rPr lang="en-US" sz="3000" spc="154">
                  <a:solidFill>
                    <a:srgbClr val="FFFFFF"/>
                  </a:solidFill>
                  <a:latin typeface="Big Shoulders Display"/>
                  <a:ea typeface="Big Shoulders Display"/>
                  <a:cs typeface="Big Shoulders Display"/>
                  <a:sym typeface="Big Shoulders Display"/>
                </a:rPr>
                <a:t> Project Presentation</a:t>
              </a:r>
            </a:p>
          </p:txBody>
        </p:sp>
      </p:grpSp>
    </p:spTree>
  </p:cSld>
  <p:clrMapOvr>
    <a:masterClrMapping/>
  </p:clrMapOvr>
  <p:transition spd="fast">
    <p:fade/>
  </p:transition>
</p:sld>
</file>

<file path=ppt/slides/slide7.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4FBFE">
                <a:alpha val="100000"/>
              </a:srgbClr>
            </a:gs>
            <a:gs pos="74000">
              <a:srgbClr val="99DAF3">
                <a:alpha val="100000"/>
              </a:srgbClr>
            </a:gs>
            <a:gs pos="83000">
              <a:srgbClr val="99DAF3">
                <a:alpha val="100000"/>
              </a:srgbClr>
            </a:gs>
            <a:gs pos="100000">
              <a:srgbClr val="BBE6F7">
                <a:alpha val="100000"/>
              </a:srgbClr>
            </a:gs>
          </a:gsLst>
          <a:lin ang="5400000"/>
        </a:gradFill>
      </p:bgPr>
    </p:bg>
    <p:spTree>
      <p:nvGrpSpPr>
        <p:cNvPr id="1" name=""/>
        <p:cNvGrpSpPr/>
        <p:nvPr/>
      </p:nvGrpSpPr>
      <p:grpSpPr>
        <a:xfrm>
          <a:off x="0" y="0"/>
          <a:ext cx="0" cy="0"/>
          <a:chOff x="0" y="0"/>
          <a:chExt cx="0" cy="0"/>
        </a:xfrm>
      </p:grpSpPr>
      <p:sp>
        <p:nvSpPr>
          <p:cNvPr name="AutoShape 2" id="2"/>
          <p:cNvSpPr/>
          <p:nvPr/>
        </p:nvSpPr>
        <p:spPr>
          <a:xfrm rot="-5328540">
            <a:off x="442398" y="1915849"/>
            <a:ext cx="1401013" cy="0"/>
          </a:xfrm>
          <a:prstGeom prst="line">
            <a:avLst/>
          </a:prstGeom>
          <a:ln cap="rnd" w="19050">
            <a:solidFill>
              <a:srgbClr val="1CADE4"/>
            </a:solidFill>
            <a:prstDash val="solid"/>
            <a:headEnd type="none" len="sm" w="sm"/>
            <a:tailEnd type="none" len="sm" w="sm"/>
          </a:ln>
        </p:spPr>
      </p:sp>
      <p:grpSp>
        <p:nvGrpSpPr>
          <p:cNvPr name="Group 3" id="3"/>
          <p:cNvGrpSpPr/>
          <p:nvPr/>
        </p:nvGrpSpPr>
        <p:grpSpPr>
          <a:xfrm rot="0">
            <a:off x="0" y="0"/>
            <a:ext cx="18287638" cy="10286457"/>
            <a:chOff x="0" y="0"/>
            <a:chExt cx="24383517" cy="13715276"/>
          </a:xfrm>
        </p:grpSpPr>
        <p:sp>
          <p:nvSpPr>
            <p:cNvPr name="Freeform 4" id="4">
              <a:extLst>
                <a:ext uri="{C183D7F6-B498-43B3-948B-1728B52AA6E4}">
                  <adec:decorative xmlns:adec="http://schemas.microsoft.com/office/drawing/2017/decorative" val="1"/>
                </a:ext>
              </a:extLst>
            </p:cNvPr>
            <p:cNvSpPr/>
            <p:nvPr/>
          </p:nvSpPr>
          <p:spPr>
            <a:xfrm flipH="false" flipV="false" rot="0">
              <a:off x="0" y="0"/>
              <a:ext cx="24383492" cy="13715237"/>
            </a:xfrm>
            <a:custGeom>
              <a:avLst/>
              <a:gdLst/>
              <a:ahLst/>
              <a:cxnLst/>
              <a:rect r="r" b="b" t="t" l="l"/>
              <a:pathLst>
                <a:path h="13715237" w="24383492">
                  <a:moveTo>
                    <a:pt x="0" y="0"/>
                  </a:moveTo>
                  <a:lnTo>
                    <a:pt x="24383492" y="0"/>
                  </a:lnTo>
                  <a:lnTo>
                    <a:pt x="24383492" y="13715237"/>
                  </a:lnTo>
                  <a:lnTo>
                    <a:pt x="0" y="13715237"/>
                  </a:lnTo>
                  <a:close/>
                </a:path>
              </a:pathLst>
            </a:custGeom>
            <a:solidFill>
              <a:srgbClr val="000000"/>
            </a:solidFill>
          </p:spPr>
        </p:sp>
      </p:grpSp>
      <p:grpSp>
        <p:nvGrpSpPr>
          <p:cNvPr name="Group 5" id="5"/>
          <p:cNvGrpSpPr/>
          <p:nvPr/>
        </p:nvGrpSpPr>
        <p:grpSpPr>
          <a:xfrm rot="0">
            <a:off x="4159082" y="726843"/>
            <a:ext cx="13421697" cy="8820902"/>
            <a:chOff x="0" y="0"/>
            <a:chExt cx="17895595" cy="11761203"/>
          </a:xfrm>
        </p:grpSpPr>
        <p:sp>
          <p:nvSpPr>
            <p:cNvPr name="Freeform 6" id="6">
              <a:extLst>
                <a:ext uri="{C183D7F6-B498-43B3-948B-1728B52AA6E4}">
                  <adec:decorative xmlns:adec="http://schemas.microsoft.com/office/drawing/2017/decorative" val="1"/>
                </a:ext>
              </a:extLst>
            </p:cNvPr>
            <p:cNvSpPr/>
            <p:nvPr/>
          </p:nvSpPr>
          <p:spPr>
            <a:xfrm flipH="false" flipV="false" rot="0">
              <a:off x="0" y="0"/>
              <a:ext cx="17895570" cy="11761216"/>
            </a:xfrm>
            <a:custGeom>
              <a:avLst/>
              <a:gdLst/>
              <a:ahLst/>
              <a:cxnLst/>
              <a:rect r="r" b="b" t="t" l="l"/>
              <a:pathLst>
                <a:path h="11761216" w="17895570">
                  <a:moveTo>
                    <a:pt x="0" y="0"/>
                  </a:moveTo>
                  <a:lnTo>
                    <a:pt x="17895570" y="0"/>
                  </a:lnTo>
                  <a:lnTo>
                    <a:pt x="17895570" y="11761216"/>
                  </a:lnTo>
                  <a:lnTo>
                    <a:pt x="0" y="11761216"/>
                  </a:lnTo>
                  <a:close/>
                </a:path>
              </a:pathLst>
            </a:custGeom>
            <a:solidFill>
              <a:srgbClr val="404040"/>
            </a:solidFill>
          </p:spPr>
        </p:sp>
      </p:grpSp>
      <p:grpSp>
        <p:nvGrpSpPr>
          <p:cNvPr name="Group 7" id="7"/>
          <p:cNvGrpSpPr/>
          <p:nvPr/>
        </p:nvGrpSpPr>
        <p:grpSpPr>
          <a:xfrm rot="0">
            <a:off x="5203984" y="1182595"/>
            <a:ext cx="11884323" cy="2249100"/>
            <a:chOff x="0" y="0"/>
            <a:chExt cx="15845765" cy="2998800"/>
          </a:xfrm>
        </p:grpSpPr>
        <p:sp>
          <p:nvSpPr>
            <p:cNvPr name="Freeform 8" id="8"/>
            <p:cNvSpPr/>
            <p:nvPr/>
          </p:nvSpPr>
          <p:spPr>
            <a:xfrm flipH="false" flipV="false" rot="0">
              <a:off x="0" y="0"/>
              <a:ext cx="15845760" cy="2998800"/>
            </a:xfrm>
            <a:custGeom>
              <a:avLst/>
              <a:gdLst/>
              <a:ahLst/>
              <a:cxnLst/>
              <a:rect r="r" b="b" t="t" l="l"/>
              <a:pathLst>
                <a:path h="2998800" w="15845760">
                  <a:moveTo>
                    <a:pt x="0" y="0"/>
                  </a:moveTo>
                  <a:lnTo>
                    <a:pt x="15845760" y="0"/>
                  </a:lnTo>
                  <a:lnTo>
                    <a:pt x="15845760" y="2998800"/>
                  </a:lnTo>
                  <a:lnTo>
                    <a:pt x="0" y="2998800"/>
                  </a:lnTo>
                  <a:close/>
                </a:path>
              </a:pathLst>
            </a:custGeom>
            <a:blipFill>
              <a:blip r:embed="rId2">
                <a:alphaModFix amt="0"/>
              </a:blip>
              <a:stretch>
                <a:fillRect l="0" t="-52959" r="0" b="-52959"/>
              </a:stretch>
            </a:blipFill>
          </p:spPr>
        </p:sp>
        <p:sp>
          <p:nvSpPr>
            <p:cNvPr name="TextBox 9" id="9"/>
            <p:cNvSpPr txBox="true"/>
            <p:nvPr/>
          </p:nvSpPr>
          <p:spPr>
            <a:xfrm>
              <a:off x="0" y="152400"/>
              <a:ext cx="15845765" cy="2846400"/>
            </a:xfrm>
            <a:prstGeom prst="rect">
              <a:avLst/>
            </a:prstGeom>
          </p:spPr>
          <p:txBody>
            <a:bodyPr anchor="ctr" rtlCol="false" tIns="0" lIns="0" bIns="0" rIns="0"/>
            <a:lstStyle/>
            <a:p>
              <a:pPr algn="l">
                <a:lnSpc>
                  <a:spcPts val="7200"/>
                </a:lnSpc>
              </a:pPr>
              <a:r>
                <a:rPr lang="en-US" sz="7500" spc="162">
                  <a:solidFill>
                    <a:srgbClr val="FFFFFF"/>
                  </a:solidFill>
                  <a:latin typeface="Big Shoulders Display"/>
                  <a:ea typeface="Big Shoulders Display"/>
                  <a:cs typeface="Big Shoulders Display"/>
                  <a:sym typeface="Big Shoulders Display"/>
                </a:rPr>
                <a:t>Module Description</a:t>
              </a:r>
            </a:p>
          </p:txBody>
        </p:sp>
      </p:grpSp>
      <p:grpSp>
        <p:nvGrpSpPr>
          <p:cNvPr name="Group 10" id="10"/>
          <p:cNvGrpSpPr/>
          <p:nvPr/>
        </p:nvGrpSpPr>
        <p:grpSpPr>
          <a:xfrm rot="0">
            <a:off x="712803" y="726843"/>
            <a:ext cx="3193018" cy="8820902"/>
            <a:chOff x="0" y="0"/>
            <a:chExt cx="4257358" cy="11761203"/>
          </a:xfrm>
        </p:grpSpPr>
        <p:sp>
          <p:nvSpPr>
            <p:cNvPr name="Freeform 11" id="11">
              <a:extLst>
                <a:ext uri="{C183D7F6-B498-43B3-948B-1728B52AA6E4}">
                  <adec:decorative xmlns:adec="http://schemas.microsoft.com/office/drawing/2017/decorative" val="1"/>
                </a:ext>
              </a:extLst>
            </p:cNvPr>
            <p:cNvSpPr/>
            <p:nvPr/>
          </p:nvSpPr>
          <p:spPr>
            <a:xfrm flipH="false" flipV="false" rot="0">
              <a:off x="0" y="0"/>
              <a:ext cx="4257421" cy="11761216"/>
            </a:xfrm>
            <a:custGeom>
              <a:avLst/>
              <a:gdLst/>
              <a:ahLst/>
              <a:cxnLst/>
              <a:rect r="r" b="b" t="t" l="l"/>
              <a:pathLst>
                <a:path h="11761216" w="4257421">
                  <a:moveTo>
                    <a:pt x="0" y="0"/>
                  </a:moveTo>
                  <a:lnTo>
                    <a:pt x="4257421" y="0"/>
                  </a:lnTo>
                  <a:lnTo>
                    <a:pt x="4257421" y="11761216"/>
                  </a:lnTo>
                  <a:lnTo>
                    <a:pt x="0" y="11761216"/>
                  </a:lnTo>
                  <a:close/>
                </a:path>
              </a:pathLst>
            </a:custGeom>
            <a:solidFill>
              <a:srgbClr val="1CADE4"/>
            </a:solidFill>
          </p:spPr>
        </p:sp>
      </p:grpSp>
      <p:sp>
        <p:nvSpPr>
          <p:cNvPr name="TextBox 12" id="12"/>
          <p:cNvSpPr txBox="true"/>
          <p:nvPr/>
        </p:nvSpPr>
        <p:spPr>
          <a:xfrm rot="0">
            <a:off x="4796031" y="3479321"/>
            <a:ext cx="11792883" cy="3054093"/>
          </a:xfrm>
          <a:prstGeom prst="rect">
            <a:avLst/>
          </a:prstGeom>
        </p:spPr>
        <p:txBody>
          <a:bodyPr anchor="t" rtlCol="false" tIns="0" lIns="0" bIns="0" rIns="0">
            <a:spAutoFit/>
          </a:bodyPr>
          <a:lstStyle/>
          <a:p>
            <a:pPr algn="l">
              <a:lnSpc>
                <a:spcPts val="3401"/>
              </a:lnSpc>
            </a:pPr>
            <a:r>
              <a:rPr lang="en-US" sz="3499">
                <a:solidFill>
                  <a:srgbClr val="FFFFFF"/>
                </a:solidFill>
                <a:latin typeface="Arimo"/>
                <a:ea typeface="Arimo"/>
                <a:cs typeface="Arimo"/>
                <a:sym typeface="Arimo"/>
              </a:rPr>
              <a:t>Admin Module: Manages menu items and controls the system.</a:t>
            </a:r>
          </a:p>
          <a:p>
            <a:pPr algn="l">
              <a:lnSpc>
                <a:spcPts val="3401"/>
              </a:lnSpc>
            </a:pPr>
            <a:r>
              <a:rPr lang="en-US" sz="3499">
                <a:solidFill>
                  <a:srgbClr val="FFFFFF"/>
                </a:solidFill>
                <a:latin typeface="Arimo"/>
                <a:ea typeface="Arimo"/>
                <a:cs typeface="Arimo"/>
                <a:sym typeface="Arimo"/>
              </a:rPr>
              <a:t>Order Processing Module: Handles customer orders and item selection.</a:t>
            </a:r>
          </a:p>
          <a:p>
            <a:pPr algn="l">
              <a:lnSpc>
                <a:spcPts val="3401"/>
              </a:lnSpc>
            </a:pPr>
            <a:r>
              <a:rPr lang="en-US" sz="3499">
                <a:solidFill>
                  <a:srgbClr val="FFFFFF"/>
                </a:solidFill>
                <a:latin typeface="Arimo"/>
                <a:ea typeface="Arimo"/>
                <a:cs typeface="Arimo"/>
                <a:sym typeface="Arimo"/>
              </a:rPr>
              <a:t>Billing Module: Calculates total and generates the bill.</a:t>
            </a:r>
          </a:p>
          <a:p>
            <a:pPr algn="l">
              <a:lnSpc>
                <a:spcPts val="3401"/>
              </a:lnSpc>
            </a:pPr>
            <a:r>
              <a:rPr lang="en-US" sz="3499">
                <a:solidFill>
                  <a:srgbClr val="FFFFFF"/>
                </a:solidFill>
                <a:latin typeface="Arimo"/>
                <a:ea typeface="Arimo"/>
                <a:cs typeface="Arimo"/>
                <a:sym typeface="Arimo"/>
              </a:rPr>
              <a:t>Customer Module: Stores and manages customer details.</a:t>
            </a:r>
          </a:p>
          <a:p>
            <a:pPr algn="l">
              <a:lnSpc>
                <a:spcPts val="3402"/>
              </a:lnSpc>
            </a:pPr>
            <a:r>
              <a:rPr lang="en-US" sz="3499">
                <a:solidFill>
                  <a:srgbClr val="FFFFFF"/>
                </a:solidFill>
                <a:latin typeface="Arimo"/>
                <a:ea typeface="Arimo"/>
                <a:cs typeface="Arimo"/>
                <a:sym typeface="Arimo"/>
              </a:rPr>
              <a:t>Payment Module: Processes and confirms payments.</a:t>
            </a:r>
          </a:p>
        </p:txBody>
      </p:sp>
      <p:grpSp>
        <p:nvGrpSpPr>
          <p:cNvPr name="Group 13" id="13"/>
          <p:cNvGrpSpPr/>
          <p:nvPr/>
        </p:nvGrpSpPr>
        <p:grpSpPr>
          <a:xfrm rot="0">
            <a:off x="849420" y="982256"/>
            <a:ext cx="2816638" cy="703621"/>
            <a:chOff x="0" y="0"/>
            <a:chExt cx="3755517" cy="938162"/>
          </a:xfrm>
        </p:grpSpPr>
        <p:sp>
          <p:nvSpPr>
            <p:cNvPr name="Freeform 14" id="14" descr="A blue and red logo  AI-generated content may be incorrect."/>
            <p:cNvSpPr/>
            <p:nvPr/>
          </p:nvSpPr>
          <p:spPr>
            <a:xfrm flipH="false" flipV="false" rot="0">
              <a:off x="0" y="0"/>
              <a:ext cx="3755517" cy="938149"/>
            </a:xfrm>
            <a:custGeom>
              <a:avLst/>
              <a:gdLst/>
              <a:ahLst/>
              <a:cxnLst/>
              <a:rect r="r" b="b" t="t" l="l"/>
              <a:pathLst>
                <a:path h="938149" w="3755517">
                  <a:moveTo>
                    <a:pt x="0" y="0"/>
                  </a:moveTo>
                  <a:lnTo>
                    <a:pt x="3755517" y="0"/>
                  </a:lnTo>
                  <a:lnTo>
                    <a:pt x="3755517" y="938149"/>
                  </a:lnTo>
                  <a:lnTo>
                    <a:pt x="0" y="938149"/>
                  </a:lnTo>
                  <a:lnTo>
                    <a:pt x="0" y="0"/>
                  </a:lnTo>
                  <a:close/>
                </a:path>
              </a:pathLst>
            </a:custGeom>
            <a:blipFill>
              <a:blip r:embed="rId3"/>
              <a:stretch>
                <a:fillRect l="0" t="-37" r="0" b="-40"/>
              </a:stretch>
            </a:blipFill>
          </p:spPr>
        </p:sp>
      </p:grpSp>
      <p:grpSp>
        <p:nvGrpSpPr>
          <p:cNvPr name="Group 15" id="15"/>
          <p:cNvGrpSpPr/>
          <p:nvPr/>
        </p:nvGrpSpPr>
        <p:grpSpPr>
          <a:xfrm rot="0">
            <a:off x="849420" y="885063"/>
            <a:ext cx="2816638" cy="8419140"/>
            <a:chOff x="0" y="0"/>
            <a:chExt cx="3755517" cy="11225520"/>
          </a:xfrm>
        </p:grpSpPr>
        <p:sp>
          <p:nvSpPr>
            <p:cNvPr name="Freeform 16" id="16"/>
            <p:cNvSpPr/>
            <p:nvPr/>
          </p:nvSpPr>
          <p:spPr>
            <a:xfrm flipH="false" flipV="false" rot="0">
              <a:off x="0" y="0"/>
              <a:ext cx="3755520" cy="11225523"/>
            </a:xfrm>
            <a:custGeom>
              <a:avLst/>
              <a:gdLst/>
              <a:ahLst/>
              <a:cxnLst/>
              <a:rect r="r" b="b" t="t" l="l"/>
              <a:pathLst>
                <a:path h="11225523" w="3755520">
                  <a:moveTo>
                    <a:pt x="0" y="0"/>
                  </a:moveTo>
                  <a:lnTo>
                    <a:pt x="3755520" y="0"/>
                  </a:lnTo>
                  <a:lnTo>
                    <a:pt x="3755520" y="11225523"/>
                  </a:lnTo>
                  <a:lnTo>
                    <a:pt x="0" y="11225523"/>
                  </a:lnTo>
                  <a:close/>
                </a:path>
              </a:pathLst>
            </a:custGeom>
            <a:blipFill>
              <a:blip r:embed="rId2">
                <a:alphaModFix amt="0"/>
              </a:blip>
              <a:stretch>
                <a:fillRect l="-333508" t="0" r="-333508" b="0"/>
              </a:stretch>
            </a:blipFill>
          </p:spPr>
        </p:sp>
        <p:sp>
          <p:nvSpPr>
            <p:cNvPr name="TextBox 17" id="17"/>
            <p:cNvSpPr txBox="true"/>
            <p:nvPr/>
          </p:nvSpPr>
          <p:spPr>
            <a:xfrm>
              <a:off x="0" y="66675"/>
              <a:ext cx="3755517" cy="11158845"/>
            </a:xfrm>
            <a:prstGeom prst="rect">
              <a:avLst/>
            </a:prstGeom>
          </p:spPr>
          <p:txBody>
            <a:bodyPr anchor="ctr" rtlCol="false" tIns="0" lIns="0" bIns="0" rIns="0"/>
            <a:lstStyle/>
            <a:p>
              <a:pPr algn="l">
                <a:lnSpc>
                  <a:spcPts val="2879"/>
                </a:lnSpc>
              </a:pPr>
              <a:r>
                <a:rPr lang="en-US" sz="3000" spc="154">
                  <a:solidFill>
                    <a:srgbClr val="FFFFFF"/>
                  </a:solidFill>
                  <a:latin typeface="Big Shoulders Display"/>
                  <a:ea typeface="Big Shoulders Display"/>
                  <a:cs typeface="Big Shoulders Display"/>
                  <a:sym typeface="Big Shoulders Display"/>
                </a:rPr>
                <a:t>Java </a:t>
              </a:r>
              <a:r>
                <a:rPr lang="en-US" sz="3000" spc="154">
                  <a:solidFill>
                    <a:srgbClr val="FFFFFF"/>
                  </a:solidFill>
                  <a:latin typeface="Big Shoulders Display"/>
                  <a:ea typeface="Big Shoulders Display"/>
                  <a:cs typeface="Big Shoulders Display"/>
                  <a:sym typeface="Big Shoulders Display"/>
                </a:rPr>
                <a:t>Project Presentation</a:t>
              </a:r>
            </a:p>
          </p:txBody>
        </p:sp>
      </p:grpSp>
    </p:spTree>
  </p:cSld>
  <p:clrMapOvr>
    <a:masterClrMapping/>
  </p:clrMapOvr>
  <p:transition spd="fast">
    <p:fade/>
  </p:transition>
</p:sld>
</file>

<file path=ppt/slides/slide8.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4FBFE">
                <a:alpha val="100000"/>
              </a:srgbClr>
            </a:gs>
            <a:gs pos="74000">
              <a:srgbClr val="99DAF3">
                <a:alpha val="100000"/>
              </a:srgbClr>
            </a:gs>
            <a:gs pos="83000">
              <a:srgbClr val="99DAF3">
                <a:alpha val="100000"/>
              </a:srgbClr>
            </a:gs>
            <a:gs pos="100000">
              <a:srgbClr val="BBE6F7">
                <a:alpha val="100000"/>
              </a:srgbClr>
            </a:gs>
          </a:gsLst>
          <a:lin ang="5400000"/>
        </a:gradFill>
      </p:bgPr>
    </p:bg>
    <p:spTree>
      <p:nvGrpSpPr>
        <p:cNvPr id="1" name=""/>
        <p:cNvGrpSpPr/>
        <p:nvPr/>
      </p:nvGrpSpPr>
      <p:grpSpPr>
        <a:xfrm>
          <a:off x="0" y="0"/>
          <a:ext cx="0" cy="0"/>
          <a:chOff x="0" y="0"/>
          <a:chExt cx="0" cy="0"/>
        </a:xfrm>
      </p:grpSpPr>
      <p:sp>
        <p:nvSpPr>
          <p:cNvPr name="AutoShape 2" id="2"/>
          <p:cNvSpPr/>
          <p:nvPr/>
        </p:nvSpPr>
        <p:spPr>
          <a:xfrm rot="-5328540">
            <a:off x="442398" y="1915849"/>
            <a:ext cx="1401013" cy="0"/>
          </a:xfrm>
          <a:prstGeom prst="line">
            <a:avLst/>
          </a:prstGeom>
          <a:ln cap="rnd" w="19050">
            <a:solidFill>
              <a:srgbClr val="1CADE4"/>
            </a:solidFill>
            <a:prstDash val="solid"/>
            <a:headEnd type="none" len="sm" w="sm"/>
            <a:tailEnd type="none" len="sm" w="sm"/>
          </a:ln>
        </p:spPr>
      </p:sp>
      <p:grpSp>
        <p:nvGrpSpPr>
          <p:cNvPr name="Group 3" id="3"/>
          <p:cNvGrpSpPr/>
          <p:nvPr/>
        </p:nvGrpSpPr>
        <p:grpSpPr>
          <a:xfrm rot="0">
            <a:off x="0" y="0"/>
            <a:ext cx="18287638" cy="10286457"/>
            <a:chOff x="0" y="0"/>
            <a:chExt cx="24383517" cy="13715276"/>
          </a:xfrm>
        </p:grpSpPr>
        <p:sp>
          <p:nvSpPr>
            <p:cNvPr name="Freeform 4" id="4">
              <a:extLst>
                <a:ext uri="{C183D7F6-B498-43B3-948B-1728B52AA6E4}">
                  <adec:decorative xmlns:adec="http://schemas.microsoft.com/office/drawing/2017/decorative" val="1"/>
                </a:ext>
              </a:extLst>
            </p:cNvPr>
            <p:cNvSpPr/>
            <p:nvPr/>
          </p:nvSpPr>
          <p:spPr>
            <a:xfrm flipH="false" flipV="false" rot="0">
              <a:off x="0" y="0"/>
              <a:ext cx="24383492" cy="13715237"/>
            </a:xfrm>
            <a:custGeom>
              <a:avLst/>
              <a:gdLst/>
              <a:ahLst/>
              <a:cxnLst/>
              <a:rect r="r" b="b" t="t" l="l"/>
              <a:pathLst>
                <a:path h="13715237" w="24383492">
                  <a:moveTo>
                    <a:pt x="0" y="0"/>
                  </a:moveTo>
                  <a:lnTo>
                    <a:pt x="24383492" y="0"/>
                  </a:lnTo>
                  <a:lnTo>
                    <a:pt x="24383492" y="13715237"/>
                  </a:lnTo>
                  <a:lnTo>
                    <a:pt x="0" y="13715237"/>
                  </a:lnTo>
                  <a:close/>
                </a:path>
              </a:pathLst>
            </a:custGeom>
            <a:solidFill>
              <a:srgbClr val="000000"/>
            </a:solidFill>
          </p:spPr>
        </p:sp>
      </p:grpSp>
      <p:grpSp>
        <p:nvGrpSpPr>
          <p:cNvPr name="Group 5" id="5"/>
          <p:cNvGrpSpPr/>
          <p:nvPr/>
        </p:nvGrpSpPr>
        <p:grpSpPr>
          <a:xfrm rot="0">
            <a:off x="4159082" y="726843"/>
            <a:ext cx="13421697" cy="8820902"/>
            <a:chOff x="0" y="0"/>
            <a:chExt cx="17895595" cy="11761203"/>
          </a:xfrm>
        </p:grpSpPr>
        <p:sp>
          <p:nvSpPr>
            <p:cNvPr name="Freeform 6" id="6">
              <a:extLst>
                <a:ext uri="{C183D7F6-B498-43B3-948B-1728B52AA6E4}">
                  <adec:decorative xmlns:adec="http://schemas.microsoft.com/office/drawing/2017/decorative" val="1"/>
                </a:ext>
              </a:extLst>
            </p:cNvPr>
            <p:cNvSpPr/>
            <p:nvPr/>
          </p:nvSpPr>
          <p:spPr>
            <a:xfrm flipH="false" flipV="false" rot="0">
              <a:off x="0" y="0"/>
              <a:ext cx="17895570" cy="11761216"/>
            </a:xfrm>
            <a:custGeom>
              <a:avLst/>
              <a:gdLst/>
              <a:ahLst/>
              <a:cxnLst/>
              <a:rect r="r" b="b" t="t" l="l"/>
              <a:pathLst>
                <a:path h="11761216" w="17895570">
                  <a:moveTo>
                    <a:pt x="0" y="0"/>
                  </a:moveTo>
                  <a:lnTo>
                    <a:pt x="17895570" y="0"/>
                  </a:lnTo>
                  <a:lnTo>
                    <a:pt x="17895570" y="11761216"/>
                  </a:lnTo>
                  <a:lnTo>
                    <a:pt x="0" y="11761216"/>
                  </a:lnTo>
                  <a:close/>
                </a:path>
              </a:pathLst>
            </a:custGeom>
            <a:solidFill>
              <a:srgbClr val="404040"/>
            </a:solidFill>
          </p:spPr>
        </p:sp>
      </p:grpSp>
      <p:grpSp>
        <p:nvGrpSpPr>
          <p:cNvPr name="Group 7" id="7"/>
          <p:cNvGrpSpPr/>
          <p:nvPr/>
        </p:nvGrpSpPr>
        <p:grpSpPr>
          <a:xfrm rot="0">
            <a:off x="5203984" y="1182595"/>
            <a:ext cx="11884323" cy="2249100"/>
            <a:chOff x="0" y="0"/>
            <a:chExt cx="15845765" cy="2998800"/>
          </a:xfrm>
        </p:grpSpPr>
        <p:sp>
          <p:nvSpPr>
            <p:cNvPr name="Freeform 8" id="8"/>
            <p:cNvSpPr/>
            <p:nvPr/>
          </p:nvSpPr>
          <p:spPr>
            <a:xfrm flipH="false" flipV="false" rot="0">
              <a:off x="0" y="0"/>
              <a:ext cx="15845760" cy="2998800"/>
            </a:xfrm>
            <a:custGeom>
              <a:avLst/>
              <a:gdLst/>
              <a:ahLst/>
              <a:cxnLst/>
              <a:rect r="r" b="b" t="t" l="l"/>
              <a:pathLst>
                <a:path h="2998800" w="15845760">
                  <a:moveTo>
                    <a:pt x="0" y="0"/>
                  </a:moveTo>
                  <a:lnTo>
                    <a:pt x="15845760" y="0"/>
                  </a:lnTo>
                  <a:lnTo>
                    <a:pt x="15845760" y="2998800"/>
                  </a:lnTo>
                  <a:lnTo>
                    <a:pt x="0" y="2998800"/>
                  </a:lnTo>
                  <a:close/>
                </a:path>
              </a:pathLst>
            </a:custGeom>
            <a:blipFill>
              <a:blip r:embed="rId2">
                <a:alphaModFix amt="0"/>
              </a:blip>
              <a:stretch>
                <a:fillRect l="0" t="-52959" r="0" b="-52959"/>
              </a:stretch>
            </a:blipFill>
          </p:spPr>
        </p:sp>
        <p:sp>
          <p:nvSpPr>
            <p:cNvPr name="TextBox 9" id="9"/>
            <p:cNvSpPr txBox="true"/>
            <p:nvPr/>
          </p:nvSpPr>
          <p:spPr>
            <a:xfrm>
              <a:off x="0" y="152400"/>
              <a:ext cx="15845765" cy="2846400"/>
            </a:xfrm>
            <a:prstGeom prst="rect">
              <a:avLst/>
            </a:prstGeom>
          </p:spPr>
          <p:txBody>
            <a:bodyPr anchor="ctr" rtlCol="false" tIns="0" lIns="0" bIns="0" rIns="0"/>
            <a:lstStyle/>
            <a:p>
              <a:pPr algn="l">
                <a:lnSpc>
                  <a:spcPts val="7200"/>
                </a:lnSpc>
              </a:pPr>
              <a:r>
                <a:rPr lang="en-US" sz="7500" spc="162">
                  <a:solidFill>
                    <a:srgbClr val="FFFFFF"/>
                  </a:solidFill>
                  <a:latin typeface="Big Shoulders Display"/>
                  <a:ea typeface="Big Shoulders Display"/>
                  <a:cs typeface="Big Shoulders Display"/>
                  <a:sym typeface="Big Shoulders Display"/>
                </a:rPr>
                <a:t>Algorithm / Flowchart</a:t>
              </a:r>
            </a:p>
          </p:txBody>
        </p:sp>
      </p:grpSp>
      <p:grpSp>
        <p:nvGrpSpPr>
          <p:cNvPr name="Group 10" id="10"/>
          <p:cNvGrpSpPr/>
          <p:nvPr/>
        </p:nvGrpSpPr>
        <p:grpSpPr>
          <a:xfrm rot="0">
            <a:off x="712803" y="726843"/>
            <a:ext cx="3193018" cy="8820902"/>
            <a:chOff x="0" y="0"/>
            <a:chExt cx="4257358" cy="11761203"/>
          </a:xfrm>
        </p:grpSpPr>
        <p:sp>
          <p:nvSpPr>
            <p:cNvPr name="Freeform 11" id="11">
              <a:extLst>
                <a:ext uri="{C183D7F6-B498-43B3-948B-1728B52AA6E4}">
                  <adec:decorative xmlns:adec="http://schemas.microsoft.com/office/drawing/2017/decorative" val="1"/>
                </a:ext>
              </a:extLst>
            </p:cNvPr>
            <p:cNvSpPr/>
            <p:nvPr/>
          </p:nvSpPr>
          <p:spPr>
            <a:xfrm flipH="false" flipV="false" rot="0">
              <a:off x="0" y="0"/>
              <a:ext cx="4257421" cy="11761216"/>
            </a:xfrm>
            <a:custGeom>
              <a:avLst/>
              <a:gdLst/>
              <a:ahLst/>
              <a:cxnLst/>
              <a:rect r="r" b="b" t="t" l="l"/>
              <a:pathLst>
                <a:path h="11761216" w="4257421">
                  <a:moveTo>
                    <a:pt x="0" y="0"/>
                  </a:moveTo>
                  <a:lnTo>
                    <a:pt x="4257421" y="0"/>
                  </a:lnTo>
                  <a:lnTo>
                    <a:pt x="4257421" y="11761216"/>
                  </a:lnTo>
                  <a:lnTo>
                    <a:pt x="0" y="11761216"/>
                  </a:lnTo>
                  <a:close/>
                </a:path>
              </a:pathLst>
            </a:custGeom>
            <a:solidFill>
              <a:srgbClr val="1CADE4"/>
            </a:solidFill>
          </p:spPr>
        </p:sp>
      </p:grpSp>
      <p:sp>
        <p:nvSpPr>
          <p:cNvPr name="TextBox 12" id="12"/>
          <p:cNvSpPr txBox="true"/>
          <p:nvPr/>
        </p:nvSpPr>
        <p:spPr>
          <a:xfrm rot="0">
            <a:off x="4905718" y="3179550"/>
            <a:ext cx="11792883" cy="5662689"/>
          </a:xfrm>
          <a:prstGeom prst="rect">
            <a:avLst/>
          </a:prstGeom>
        </p:spPr>
        <p:txBody>
          <a:bodyPr anchor="t" rtlCol="false" tIns="0" lIns="0" bIns="0" rIns="0">
            <a:spAutoFit/>
          </a:bodyPr>
          <a:lstStyle/>
          <a:p>
            <a:pPr algn="l">
              <a:lnSpc>
                <a:spcPts val="3183"/>
              </a:lnSpc>
            </a:pPr>
          </a:p>
          <a:p>
            <a:pPr algn="l" marL="666883" indent="-333441" lvl="1">
              <a:lnSpc>
                <a:spcPts val="3183"/>
              </a:lnSpc>
              <a:buFont typeface="Arial"/>
              <a:buChar char="•"/>
            </a:pPr>
            <a:r>
              <a:rPr lang="en-US" sz="3684">
                <a:solidFill>
                  <a:srgbClr val="FFFFFF"/>
                </a:solidFill>
                <a:latin typeface="Arimo"/>
                <a:ea typeface="Arimo"/>
                <a:cs typeface="Arimo"/>
                <a:sym typeface="Arimo"/>
              </a:rPr>
              <a:t>Start</a:t>
            </a:r>
          </a:p>
          <a:p>
            <a:pPr algn="l" marL="666883" indent="-333441" lvl="1">
              <a:lnSpc>
                <a:spcPts val="3183"/>
              </a:lnSpc>
              <a:buFont typeface="Arial"/>
              <a:buChar char="•"/>
            </a:pPr>
            <a:r>
              <a:rPr lang="en-US" sz="3684">
                <a:solidFill>
                  <a:srgbClr val="FFFFFF"/>
                </a:solidFill>
                <a:latin typeface="Arimo"/>
                <a:ea typeface="Arimo"/>
                <a:cs typeface="Arimo"/>
                <a:sym typeface="Arimo"/>
              </a:rPr>
              <a:t>  ↓</a:t>
            </a:r>
          </a:p>
          <a:p>
            <a:pPr algn="l" marL="666883" indent="-333441" lvl="1">
              <a:lnSpc>
                <a:spcPts val="3183"/>
              </a:lnSpc>
              <a:buFont typeface="Arial"/>
              <a:buChar char="•"/>
            </a:pPr>
            <a:r>
              <a:rPr lang="en-US" sz="3684">
                <a:solidFill>
                  <a:srgbClr val="FFFFFF"/>
                </a:solidFill>
                <a:latin typeface="Arimo"/>
                <a:ea typeface="Arimo"/>
                <a:cs typeface="Arimo"/>
                <a:sym typeface="Arimo"/>
              </a:rPr>
              <a:t>Enter Savings Goal</a:t>
            </a:r>
          </a:p>
          <a:p>
            <a:pPr algn="l" marL="666883" indent="-333441" lvl="1">
              <a:lnSpc>
                <a:spcPts val="3183"/>
              </a:lnSpc>
              <a:buFont typeface="Arial"/>
              <a:buChar char="•"/>
            </a:pPr>
            <a:r>
              <a:rPr lang="en-US" sz="3684">
                <a:solidFill>
                  <a:srgbClr val="FFFFFF"/>
                </a:solidFill>
                <a:latin typeface="Arimo"/>
                <a:ea typeface="Arimo"/>
                <a:cs typeface="Arimo"/>
                <a:sym typeface="Arimo"/>
              </a:rPr>
              <a:t>  ↓</a:t>
            </a:r>
          </a:p>
          <a:p>
            <a:pPr algn="l" marL="666883" indent="-333441" lvl="1">
              <a:lnSpc>
                <a:spcPts val="3183"/>
              </a:lnSpc>
              <a:buFont typeface="Arial"/>
              <a:buChar char="•"/>
            </a:pPr>
            <a:r>
              <a:rPr lang="en-US" sz="3684">
                <a:solidFill>
                  <a:srgbClr val="FFFFFF"/>
                </a:solidFill>
                <a:latin typeface="Arimo"/>
                <a:ea typeface="Arimo"/>
                <a:cs typeface="Arimo"/>
                <a:sym typeface="Arimo"/>
              </a:rPr>
              <a:t>Enter Current Savings</a:t>
            </a:r>
          </a:p>
          <a:p>
            <a:pPr algn="l" marL="666883" indent="-333441" lvl="1">
              <a:lnSpc>
                <a:spcPts val="3183"/>
              </a:lnSpc>
              <a:buFont typeface="Arial"/>
              <a:buChar char="•"/>
            </a:pPr>
            <a:r>
              <a:rPr lang="en-US" sz="3684">
                <a:solidFill>
                  <a:srgbClr val="FFFFFF"/>
                </a:solidFill>
                <a:latin typeface="Arimo"/>
                <a:ea typeface="Arimo"/>
                <a:cs typeface="Arimo"/>
                <a:sym typeface="Arimo"/>
              </a:rPr>
              <a:t>  ↓</a:t>
            </a:r>
          </a:p>
          <a:p>
            <a:pPr algn="l" marL="666883" indent="-333441" lvl="1">
              <a:lnSpc>
                <a:spcPts val="3183"/>
              </a:lnSpc>
              <a:buFont typeface="Arial"/>
              <a:buChar char="•"/>
            </a:pPr>
            <a:r>
              <a:rPr lang="en-US" sz="3684">
                <a:solidFill>
                  <a:srgbClr val="FFFFFF"/>
                </a:solidFill>
                <a:latin typeface="Arimo"/>
                <a:ea typeface="Arimo"/>
                <a:cs typeface="Arimo"/>
                <a:sym typeface="Arimo"/>
              </a:rPr>
              <a:t>Calculate Remaining Amount</a:t>
            </a:r>
          </a:p>
          <a:p>
            <a:pPr algn="l" marL="666883" indent="-333441" lvl="1">
              <a:lnSpc>
                <a:spcPts val="3183"/>
              </a:lnSpc>
              <a:buFont typeface="Arial"/>
              <a:buChar char="•"/>
            </a:pPr>
            <a:r>
              <a:rPr lang="en-US" sz="3684">
                <a:solidFill>
                  <a:srgbClr val="FFFFFF"/>
                </a:solidFill>
                <a:latin typeface="Arimo"/>
                <a:ea typeface="Arimo"/>
                <a:cs typeface="Arimo"/>
                <a:sym typeface="Arimo"/>
              </a:rPr>
              <a:t>  ↓</a:t>
            </a:r>
          </a:p>
          <a:p>
            <a:pPr algn="l" marL="666883" indent="-333441" lvl="1">
              <a:lnSpc>
                <a:spcPts val="3183"/>
              </a:lnSpc>
              <a:buFont typeface="Arial"/>
              <a:buChar char="•"/>
            </a:pPr>
            <a:r>
              <a:rPr lang="en-US" sz="3684">
                <a:solidFill>
                  <a:srgbClr val="FFFFFF"/>
                </a:solidFill>
                <a:latin typeface="Arimo"/>
                <a:ea typeface="Arimo"/>
                <a:cs typeface="Arimo"/>
                <a:sym typeface="Arimo"/>
              </a:rPr>
              <a:t>Calculate Percentage Achieved</a:t>
            </a:r>
          </a:p>
          <a:p>
            <a:pPr algn="l" marL="666883" indent="-333441" lvl="1">
              <a:lnSpc>
                <a:spcPts val="3183"/>
              </a:lnSpc>
              <a:buFont typeface="Arial"/>
              <a:buChar char="•"/>
            </a:pPr>
            <a:r>
              <a:rPr lang="en-US" sz="3684">
                <a:solidFill>
                  <a:srgbClr val="FFFFFF"/>
                </a:solidFill>
                <a:latin typeface="Arimo"/>
                <a:ea typeface="Arimo"/>
                <a:cs typeface="Arimo"/>
                <a:sym typeface="Arimo"/>
              </a:rPr>
              <a:t>  ↓</a:t>
            </a:r>
          </a:p>
          <a:p>
            <a:pPr algn="l" marL="666883" indent="-333441" lvl="1">
              <a:lnSpc>
                <a:spcPts val="3183"/>
              </a:lnSpc>
              <a:buFont typeface="Arial"/>
              <a:buChar char="•"/>
            </a:pPr>
            <a:r>
              <a:rPr lang="en-US" sz="3684">
                <a:solidFill>
                  <a:srgbClr val="FFFFFF"/>
                </a:solidFill>
                <a:latin typeface="Arimo"/>
                <a:ea typeface="Arimo"/>
                <a:cs typeface="Arimo"/>
                <a:sym typeface="Arimo"/>
              </a:rPr>
              <a:t>Display Results</a:t>
            </a:r>
          </a:p>
          <a:p>
            <a:pPr algn="l" marL="666883" indent="-333441" lvl="1">
              <a:lnSpc>
                <a:spcPts val="3183"/>
              </a:lnSpc>
              <a:buFont typeface="Arial"/>
              <a:buChar char="•"/>
            </a:pPr>
            <a:r>
              <a:rPr lang="en-US" sz="3684">
                <a:solidFill>
                  <a:srgbClr val="FFFFFF"/>
                </a:solidFill>
                <a:latin typeface="Arimo"/>
                <a:ea typeface="Arimo"/>
                <a:cs typeface="Arimo"/>
                <a:sym typeface="Arimo"/>
              </a:rPr>
              <a:t>  ↓</a:t>
            </a:r>
          </a:p>
          <a:p>
            <a:pPr algn="l" marL="666883" indent="-333441" lvl="1">
              <a:lnSpc>
                <a:spcPts val="3183"/>
              </a:lnSpc>
              <a:buFont typeface="Arial"/>
              <a:buChar char="•"/>
            </a:pPr>
            <a:r>
              <a:rPr lang="en-US" sz="3684">
                <a:solidFill>
                  <a:srgbClr val="FFFFFF"/>
                </a:solidFill>
                <a:latin typeface="Arimo"/>
                <a:ea typeface="Arimo"/>
                <a:cs typeface="Arimo"/>
                <a:sym typeface="Arimo"/>
              </a:rPr>
              <a:t>End</a:t>
            </a:r>
          </a:p>
        </p:txBody>
      </p:sp>
      <p:grpSp>
        <p:nvGrpSpPr>
          <p:cNvPr name="Group 13" id="13"/>
          <p:cNvGrpSpPr/>
          <p:nvPr/>
        </p:nvGrpSpPr>
        <p:grpSpPr>
          <a:xfrm rot="0">
            <a:off x="849420" y="982256"/>
            <a:ext cx="2816638" cy="703621"/>
            <a:chOff x="0" y="0"/>
            <a:chExt cx="3755517" cy="938162"/>
          </a:xfrm>
        </p:grpSpPr>
        <p:sp>
          <p:nvSpPr>
            <p:cNvPr name="Freeform 14" id="14" descr="A blue and red logo  AI-generated content may be incorrect."/>
            <p:cNvSpPr/>
            <p:nvPr/>
          </p:nvSpPr>
          <p:spPr>
            <a:xfrm flipH="false" flipV="false" rot="0">
              <a:off x="0" y="0"/>
              <a:ext cx="3755517" cy="938149"/>
            </a:xfrm>
            <a:custGeom>
              <a:avLst/>
              <a:gdLst/>
              <a:ahLst/>
              <a:cxnLst/>
              <a:rect r="r" b="b" t="t" l="l"/>
              <a:pathLst>
                <a:path h="938149" w="3755517">
                  <a:moveTo>
                    <a:pt x="0" y="0"/>
                  </a:moveTo>
                  <a:lnTo>
                    <a:pt x="3755517" y="0"/>
                  </a:lnTo>
                  <a:lnTo>
                    <a:pt x="3755517" y="938149"/>
                  </a:lnTo>
                  <a:lnTo>
                    <a:pt x="0" y="938149"/>
                  </a:lnTo>
                  <a:lnTo>
                    <a:pt x="0" y="0"/>
                  </a:lnTo>
                  <a:close/>
                </a:path>
              </a:pathLst>
            </a:custGeom>
            <a:blipFill>
              <a:blip r:embed="rId3"/>
              <a:stretch>
                <a:fillRect l="0" t="-37" r="0" b="-40"/>
              </a:stretch>
            </a:blipFill>
          </p:spPr>
        </p:sp>
      </p:grpSp>
      <p:grpSp>
        <p:nvGrpSpPr>
          <p:cNvPr name="Group 15" id="15"/>
          <p:cNvGrpSpPr/>
          <p:nvPr/>
        </p:nvGrpSpPr>
        <p:grpSpPr>
          <a:xfrm rot="0">
            <a:off x="849420" y="885063"/>
            <a:ext cx="2816638" cy="8419140"/>
            <a:chOff x="0" y="0"/>
            <a:chExt cx="3755517" cy="11225520"/>
          </a:xfrm>
        </p:grpSpPr>
        <p:sp>
          <p:nvSpPr>
            <p:cNvPr name="Freeform 16" id="16"/>
            <p:cNvSpPr/>
            <p:nvPr/>
          </p:nvSpPr>
          <p:spPr>
            <a:xfrm flipH="false" flipV="false" rot="0">
              <a:off x="0" y="0"/>
              <a:ext cx="3755520" cy="11225523"/>
            </a:xfrm>
            <a:custGeom>
              <a:avLst/>
              <a:gdLst/>
              <a:ahLst/>
              <a:cxnLst/>
              <a:rect r="r" b="b" t="t" l="l"/>
              <a:pathLst>
                <a:path h="11225523" w="3755520">
                  <a:moveTo>
                    <a:pt x="0" y="0"/>
                  </a:moveTo>
                  <a:lnTo>
                    <a:pt x="3755520" y="0"/>
                  </a:lnTo>
                  <a:lnTo>
                    <a:pt x="3755520" y="11225523"/>
                  </a:lnTo>
                  <a:lnTo>
                    <a:pt x="0" y="11225523"/>
                  </a:lnTo>
                  <a:close/>
                </a:path>
              </a:pathLst>
            </a:custGeom>
            <a:blipFill>
              <a:blip r:embed="rId2">
                <a:alphaModFix amt="0"/>
              </a:blip>
              <a:stretch>
                <a:fillRect l="-333508" t="0" r="-333508" b="0"/>
              </a:stretch>
            </a:blipFill>
          </p:spPr>
        </p:sp>
        <p:sp>
          <p:nvSpPr>
            <p:cNvPr name="TextBox 17" id="17"/>
            <p:cNvSpPr txBox="true"/>
            <p:nvPr/>
          </p:nvSpPr>
          <p:spPr>
            <a:xfrm>
              <a:off x="0" y="66675"/>
              <a:ext cx="3755517" cy="11158845"/>
            </a:xfrm>
            <a:prstGeom prst="rect">
              <a:avLst/>
            </a:prstGeom>
          </p:spPr>
          <p:txBody>
            <a:bodyPr anchor="ctr" rtlCol="false" tIns="0" lIns="0" bIns="0" rIns="0"/>
            <a:lstStyle/>
            <a:p>
              <a:pPr algn="l">
                <a:lnSpc>
                  <a:spcPts val="2879"/>
                </a:lnSpc>
              </a:pPr>
              <a:r>
                <a:rPr lang="en-US" sz="3000" spc="154">
                  <a:solidFill>
                    <a:srgbClr val="FFFFFF"/>
                  </a:solidFill>
                  <a:latin typeface="Big Shoulders Display"/>
                  <a:ea typeface="Big Shoulders Display"/>
                  <a:cs typeface="Big Shoulders Display"/>
                  <a:sym typeface="Big Shoulders Display"/>
                </a:rPr>
                <a:t>Java Project Presentation</a:t>
              </a:r>
            </a:p>
          </p:txBody>
        </p:sp>
      </p:grpSp>
    </p:spTree>
  </p:cSld>
  <p:clrMapOvr>
    <a:masterClrMapping/>
  </p:clrMapOvr>
  <p:transition spd="fast">
    <p:fade/>
  </p:transition>
</p:sld>
</file>

<file path=ppt/slides/slide9.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4FBFE">
                <a:alpha val="100000"/>
              </a:srgbClr>
            </a:gs>
            <a:gs pos="74000">
              <a:srgbClr val="99DAF3">
                <a:alpha val="100000"/>
              </a:srgbClr>
            </a:gs>
            <a:gs pos="83000">
              <a:srgbClr val="99DAF3">
                <a:alpha val="100000"/>
              </a:srgbClr>
            </a:gs>
            <a:gs pos="100000">
              <a:srgbClr val="BBE6F7">
                <a:alpha val="100000"/>
              </a:srgbClr>
            </a:gs>
          </a:gsLst>
          <a:lin ang="5400000"/>
        </a:gradFill>
      </p:bgPr>
    </p:bg>
    <p:spTree>
      <p:nvGrpSpPr>
        <p:cNvPr id="1" name=""/>
        <p:cNvGrpSpPr/>
        <p:nvPr/>
      </p:nvGrpSpPr>
      <p:grpSpPr>
        <a:xfrm>
          <a:off x="0" y="0"/>
          <a:ext cx="0" cy="0"/>
          <a:chOff x="0" y="0"/>
          <a:chExt cx="0" cy="0"/>
        </a:xfrm>
      </p:grpSpPr>
      <p:sp>
        <p:nvSpPr>
          <p:cNvPr name="AutoShape 2" id="2"/>
          <p:cNvSpPr/>
          <p:nvPr/>
        </p:nvSpPr>
        <p:spPr>
          <a:xfrm rot="-5328540">
            <a:off x="442398" y="1915849"/>
            <a:ext cx="1401013" cy="0"/>
          </a:xfrm>
          <a:prstGeom prst="line">
            <a:avLst/>
          </a:prstGeom>
          <a:ln cap="rnd" w="19050">
            <a:solidFill>
              <a:srgbClr val="1CADE4"/>
            </a:solidFill>
            <a:prstDash val="solid"/>
            <a:headEnd type="none" len="sm" w="sm"/>
            <a:tailEnd type="none" len="sm" w="sm"/>
          </a:ln>
        </p:spPr>
      </p:sp>
      <p:grpSp>
        <p:nvGrpSpPr>
          <p:cNvPr name="Group 3" id="3"/>
          <p:cNvGrpSpPr/>
          <p:nvPr/>
        </p:nvGrpSpPr>
        <p:grpSpPr>
          <a:xfrm rot="0">
            <a:off x="0" y="0"/>
            <a:ext cx="18287638" cy="10286457"/>
            <a:chOff x="0" y="0"/>
            <a:chExt cx="24383517" cy="13715276"/>
          </a:xfrm>
        </p:grpSpPr>
        <p:sp>
          <p:nvSpPr>
            <p:cNvPr name="Freeform 4" id="4">
              <a:extLst>
                <a:ext uri="{C183D7F6-B498-43B3-948B-1728B52AA6E4}">
                  <adec:decorative xmlns:adec="http://schemas.microsoft.com/office/drawing/2017/decorative" val="1"/>
                </a:ext>
              </a:extLst>
            </p:cNvPr>
            <p:cNvSpPr/>
            <p:nvPr/>
          </p:nvSpPr>
          <p:spPr>
            <a:xfrm flipH="false" flipV="false" rot="0">
              <a:off x="0" y="0"/>
              <a:ext cx="24383492" cy="13715237"/>
            </a:xfrm>
            <a:custGeom>
              <a:avLst/>
              <a:gdLst/>
              <a:ahLst/>
              <a:cxnLst/>
              <a:rect r="r" b="b" t="t" l="l"/>
              <a:pathLst>
                <a:path h="13715237" w="24383492">
                  <a:moveTo>
                    <a:pt x="0" y="0"/>
                  </a:moveTo>
                  <a:lnTo>
                    <a:pt x="24383492" y="0"/>
                  </a:lnTo>
                  <a:lnTo>
                    <a:pt x="24383492" y="13715237"/>
                  </a:lnTo>
                  <a:lnTo>
                    <a:pt x="0" y="13715237"/>
                  </a:lnTo>
                  <a:close/>
                </a:path>
              </a:pathLst>
            </a:custGeom>
            <a:solidFill>
              <a:srgbClr val="000000"/>
            </a:solidFill>
          </p:spPr>
        </p:sp>
      </p:grpSp>
      <p:grpSp>
        <p:nvGrpSpPr>
          <p:cNvPr name="Group 5" id="5"/>
          <p:cNvGrpSpPr/>
          <p:nvPr/>
        </p:nvGrpSpPr>
        <p:grpSpPr>
          <a:xfrm rot="0">
            <a:off x="3905822" y="0"/>
            <a:ext cx="14131851" cy="10286457"/>
            <a:chOff x="0" y="0"/>
            <a:chExt cx="18842468" cy="13715276"/>
          </a:xfrm>
        </p:grpSpPr>
        <p:sp>
          <p:nvSpPr>
            <p:cNvPr name="Freeform 6" id="6">
              <a:extLst>
                <a:ext uri="{C183D7F6-B498-43B3-948B-1728B52AA6E4}">
                  <adec:decorative xmlns:adec="http://schemas.microsoft.com/office/drawing/2017/decorative" val="1"/>
                </a:ext>
              </a:extLst>
            </p:cNvPr>
            <p:cNvSpPr/>
            <p:nvPr/>
          </p:nvSpPr>
          <p:spPr>
            <a:xfrm flipH="false" flipV="false" rot="0">
              <a:off x="0" y="0"/>
              <a:ext cx="18842441" cy="13715288"/>
            </a:xfrm>
            <a:custGeom>
              <a:avLst/>
              <a:gdLst/>
              <a:ahLst/>
              <a:cxnLst/>
              <a:rect r="r" b="b" t="t" l="l"/>
              <a:pathLst>
                <a:path h="13715288" w="18842441">
                  <a:moveTo>
                    <a:pt x="0" y="0"/>
                  </a:moveTo>
                  <a:lnTo>
                    <a:pt x="18842441" y="0"/>
                  </a:lnTo>
                  <a:lnTo>
                    <a:pt x="18842441" y="13715288"/>
                  </a:lnTo>
                  <a:lnTo>
                    <a:pt x="0" y="13715288"/>
                  </a:lnTo>
                  <a:close/>
                </a:path>
              </a:pathLst>
            </a:custGeom>
            <a:solidFill>
              <a:srgbClr val="404040"/>
            </a:solidFill>
          </p:spPr>
        </p:sp>
      </p:grpSp>
      <p:grpSp>
        <p:nvGrpSpPr>
          <p:cNvPr name="Group 7" id="7"/>
          <p:cNvGrpSpPr/>
          <p:nvPr/>
        </p:nvGrpSpPr>
        <p:grpSpPr>
          <a:xfrm rot="0">
            <a:off x="4392379" y="0"/>
            <a:ext cx="11884323" cy="2249100"/>
            <a:chOff x="0" y="0"/>
            <a:chExt cx="15845765" cy="2998800"/>
          </a:xfrm>
        </p:grpSpPr>
        <p:sp>
          <p:nvSpPr>
            <p:cNvPr name="Freeform 8" id="8"/>
            <p:cNvSpPr/>
            <p:nvPr/>
          </p:nvSpPr>
          <p:spPr>
            <a:xfrm flipH="false" flipV="false" rot="0">
              <a:off x="0" y="0"/>
              <a:ext cx="15845760" cy="2998800"/>
            </a:xfrm>
            <a:custGeom>
              <a:avLst/>
              <a:gdLst/>
              <a:ahLst/>
              <a:cxnLst/>
              <a:rect r="r" b="b" t="t" l="l"/>
              <a:pathLst>
                <a:path h="2998800" w="15845760">
                  <a:moveTo>
                    <a:pt x="0" y="0"/>
                  </a:moveTo>
                  <a:lnTo>
                    <a:pt x="15845760" y="0"/>
                  </a:lnTo>
                  <a:lnTo>
                    <a:pt x="15845760" y="2998800"/>
                  </a:lnTo>
                  <a:lnTo>
                    <a:pt x="0" y="2998800"/>
                  </a:lnTo>
                  <a:close/>
                </a:path>
              </a:pathLst>
            </a:custGeom>
            <a:blipFill>
              <a:blip r:embed="rId2">
                <a:alphaModFix amt="0"/>
              </a:blip>
              <a:stretch>
                <a:fillRect l="0" t="-52959" r="0" b="-52959"/>
              </a:stretch>
            </a:blipFill>
          </p:spPr>
        </p:sp>
        <p:sp>
          <p:nvSpPr>
            <p:cNvPr name="TextBox 9" id="9"/>
            <p:cNvSpPr txBox="true"/>
            <p:nvPr/>
          </p:nvSpPr>
          <p:spPr>
            <a:xfrm>
              <a:off x="0" y="142875"/>
              <a:ext cx="15845765" cy="2855925"/>
            </a:xfrm>
            <a:prstGeom prst="rect">
              <a:avLst/>
            </a:prstGeom>
          </p:spPr>
          <p:txBody>
            <a:bodyPr anchor="ctr" rtlCol="false" tIns="0" lIns="0" bIns="0" rIns="0"/>
            <a:lstStyle/>
            <a:p>
              <a:pPr algn="l">
                <a:lnSpc>
                  <a:spcPts val="6720"/>
                </a:lnSpc>
              </a:pPr>
              <a:r>
                <a:rPr lang="en-US" sz="7000" spc="152">
                  <a:solidFill>
                    <a:srgbClr val="FFFFFF"/>
                  </a:solidFill>
                  <a:latin typeface="Big Shoulders Display"/>
                  <a:ea typeface="Big Shoulders Display"/>
                  <a:cs typeface="Big Shoulders Display"/>
                  <a:sym typeface="Big Shoulders Display"/>
                </a:rPr>
                <a:t>Implementation</a:t>
              </a:r>
            </a:p>
          </p:txBody>
        </p:sp>
      </p:grpSp>
      <p:grpSp>
        <p:nvGrpSpPr>
          <p:cNvPr name="Group 10" id="10"/>
          <p:cNvGrpSpPr/>
          <p:nvPr/>
        </p:nvGrpSpPr>
        <p:grpSpPr>
          <a:xfrm rot="0">
            <a:off x="0" y="0"/>
            <a:ext cx="4085784" cy="10287000"/>
            <a:chOff x="0" y="0"/>
            <a:chExt cx="5447712" cy="13716000"/>
          </a:xfrm>
        </p:grpSpPr>
        <p:sp>
          <p:nvSpPr>
            <p:cNvPr name="Freeform 11" id="11">
              <a:extLst>
                <a:ext uri="{C183D7F6-B498-43B3-948B-1728B52AA6E4}">
                  <adec:decorative xmlns:adec="http://schemas.microsoft.com/office/drawing/2017/decorative" val="1"/>
                </a:ext>
              </a:extLst>
            </p:cNvPr>
            <p:cNvSpPr/>
            <p:nvPr/>
          </p:nvSpPr>
          <p:spPr>
            <a:xfrm flipH="false" flipV="false" rot="0">
              <a:off x="0" y="0"/>
              <a:ext cx="5447775" cy="13716000"/>
            </a:xfrm>
            <a:custGeom>
              <a:avLst/>
              <a:gdLst/>
              <a:ahLst/>
              <a:cxnLst/>
              <a:rect r="r" b="b" t="t" l="l"/>
              <a:pathLst>
                <a:path h="13716000" w="5447775">
                  <a:moveTo>
                    <a:pt x="0" y="0"/>
                  </a:moveTo>
                  <a:lnTo>
                    <a:pt x="5447775" y="0"/>
                  </a:lnTo>
                  <a:lnTo>
                    <a:pt x="5447775" y="13716000"/>
                  </a:lnTo>
                  <a:lnTo>
                    <a:pt x="0" y="13716000"/>
                  </a:lnTo>
                  <a:close/>
                </a:path>
              </a:pathLst>
            </a:custGeom>
            <a:solidFill>
              <a:srgbClr val="1CADE4"/>
            </a:solidFill>
          </p:spPr>
        </p:sp>
      </p:grpSp>
      <p:grpSp>
        <p:nvGrpSpPr>
          <p:cNvPr name="Group 12" id="12"/>
          <p:cNvGrpSpPr/>
          <p:nvPr/>
        </p:nvGrpSpPr>
        <p:grpSpPr>
          <a:xfrm rot="0">
            <a:off x="849420" y="982256"/>
            <a:ext cx="2816638" cy="703621"/>
            <a:chOff x="0" y="0"/>
            <a:chExt cx="3755517" cy="938162"/>
          </a:xfrm>
        </p:grpSpPr>
        <p:sp>
          <p:nvSpPr>
            <p:cNvPr name="Freeform 13" id="13" descr="A blue and red logo  AI-generated content may be incorrect."/>
            <p:cNvSpPr/>
            <p:nvPr/>
          </p:nvSpPr>
          <p:spPr>
            <a:xfrm flipH="false" flipV="false" rot="0">
              <a:off x="0" y="0"/>
              <a:ext cx="3755517" cy="938149"/>
            </a:xfrm>
            <a:custGeom>
              <a:avLst/>
              <a:gdLst/>
              <a:ahLst/>
              <a:cxnLst/>
              <a:rect r="r" b="b" t="t" l="l"/>
              <a:pathLst>
                <a:path h="938149" w="3755517">
                  <a:moveTo>
                    <a:pt x="0" y="0"/>
                  </a:moveTo>
                  <a:lnTo>
                    <a:pt x="3755517" y="0"/>
                  </a:lnTo>
                  <a:lnTo>
                    <a:pt x="3755517" y="938149"/>
                  </a:lnTo>
                  <a:lnTo>
                    <a:pt x="0" y="938149"/>
                  </a:lnTo>
                  <a:lnTo>
                    <a:pt x="0" y="0"/>
                  </a:lnTo>
                  <a:close/>
                </a:path>
              </a:pathLst>
            </a:custGeom>
            <a:blipFill>
              <a:blip r:embed="rId3"/>
              <a:stretch>
                <a:fillRect l="0" t="-37" r="0" b="-40"/>
              </a:stretch>
            </a:blipFill>
          </p:spPr>
        </p:sp>
      </p:grpSp>
      <p:grpSp>
        <p:nvGrpSpPr>
          <p:cNvPr name="Group 14" id="14"/>
          <p:cNvGrpSpPr/>
          <p:nvPr/>
        </p:nvGrpSpPr>
        <p:grpSpPr>
          <a:xfrm rot="0">
            <a:off x="849420" y="885062"/>
            <a:ext cx="2816638" cy="8419140"/>
            <a:chOff x="0" y="0"/>
            <a:chExt cx="3755517" cy="11225520"/>
          </a:xfrm>
        </p:grpSpPr>
        <p:sp>
          <p:nvSpPr>
            <p:cNvPr name="Freeform 15" id="15"/>
            <p:cNvSpPr/>
            <p:nvPr/>
          </p:nvSpPr>
          <p:spPr>
            <a:xfrm flipH="false" flipV="false" rot="0">
              <a:off x="0" y="0"/>
              <a:ext cx="3755520" cy="11225523"/>
            </a:xfrm>
            <a:custGeom>
              <a:avLst/>
              <a:gdLst/>
              <a:ahLst/>
              <a:cxnLst/>
              <a:rect r="r" b="b" t="t" l="l"/>
              <a:pathLst>
                <a:path h="11225523" w="3755520">
                  <a:moveTo>
                    <a:pt x="0" y="0"/>
                  </a:moveTo>
                  <a:lnTo>
                    <a:pt x="3755520" y="0"/>
                  </a:lnTo>
                  <a:lnTo>
                    <a:pt x="3755520" y="11225523"/>
                  </a:lnTo>
                  <a:lnTo>
                    <a:pt x="0" y="11225523"/>
                  </a:lnTo>
                  <a:close/>
                </a:path>
              </a:pathLst>
            </a:custGeom>
            <a:blipFill>
              <a:blip r:embed="rId2">
                <a:alphaModFix amt="0"/>
              </a:blip>
              <a:stretch>
                <a:fillRect l="-333508" t="0" r="-333508" b="0"/>
              </a:stretch>
            </a:blipFill>
          </p:spPr>
        </p:sp>
        <p:sp>
          <p:nvSpPr>
            <p:cNvPr name="TextBox 16" id="16"/>
            <p:cNvSpPr txBox="true"/>
            <p:nvPr/>
          </p:nvSpPr>
          <p:spPr>
            <a:xfrm>
              <a:off x="0" y="85725"/>
              <a:ext cx="3755517" cy="11139795"/>
            </a:xfrm>
            <a:prstGeom prst="rect">
              <a:avLst/>
            </a:prstGeom>
          </p:spPr>
          <p:txBody>
            <a:bodyPr anchor="ctr" rtlCol="false" tIns="0" lIns="0" bIns="0" rIns="0"/>
            <a:lstStyle/>
            <a:p>
              <a:pPr algn="l">
                <a:lnSpc>
                  <a:spcPts val="3839"/>
                </a:lnSpc>
              </a:pPr>
              <a:r>
                <a:rPr lang="en-US" sz="3999" spc="205">
                  <a:solidFill>
                    <a:srgbClr val="FFFFFF"/>
                  </a:solidFill>
                  <a:latin typeface="Big Shoulders Display"/>
                  <a:ea typeface="Big Shoulders Display"/>
                  <a:cs typeface="Big Shoulders Display"/>
                  <a:sym typeface="Big Shoulders Display"/>
                </a:rPr>
                <a:t>Java </a:t>
              </a:r>
              <a:r>
                <a:rPr lang="en-US" sz="3999" spc="205">
                  <a:solidFill>
                    <a:srgbClr val="FFFFFF"/>
                  </a:solidFill>
                  <a:latin typeface="Big Shoulders Display"/>
                  <a:ea typeface="Big Shoulders Display"/>
                  <a:cs typeface="Big Shoulders Display"/>
                  <a:sym typeface="Big Shoulders Display"/>
                </a:rPr>
                <a:t>Project Presentation</a:t>
              </a:r>
            </a:p>
          </p:txBody>
        </p:sp>
      </p:grpSp>
      <p:sp>
        <p:nvSpPr>
          <p:cNvPr name="TextBox 17" id="17"/>
          <p:cNvSpPr txBox="true"/>
          <p:nvPr/>
        </p:nvSpPr>
        <p:spPr>
          <a:xfrm rot="0">
            <a:off x="5043421" y="1849439"/>
            <a:ext cx="8200796" cy="7893549"/>
          </a:xfrm>
          <a:prstGeom prst="rect">
            <a:avLst/>
          </a:prstGeom>
        </p:spPr>
        <p:txBody>
          <a:bodyPr anchor="t" rtlCol="false" tIns="0" lIns="0" bIns="0" rIns="0">
            <a:spAutoFit/>
          </a:bodyPr>
          <a:lstStyle/>
          <a:p>
            <a:pPr algn="l">
              <a:lnSpc>
                <a:spcPts val="2040"/>
              </a:lnSpc>
            </a:pPr>
            <a:r>
              <a:rPr lang="en-US" sz="1700">
                <a:solidFill>
                  <a:srgbClr val="FFFFFF"/>
                </a:solidFill>
                <a:latin typeface="Arial"/>
                <a:ea typeface="Arial"/>
                <a:cs typeface="Arial"/>
                <a:sym typeface="Arial"/>
              </a:rPr>
              <a:t>import java.util.Scanner;</a:t>
            </a:r>
          </a:p>
          <a:p>
            <a:pPr algn="l">
              <a:lnSpc>
                <a:spcPts val="2040"/>
              </a:lnSpc>
            </a:pPr>
          </a:p>
          <a:p>
            <a:pPr algn="l">
              <a:lnSpc>
                <a:spcPts val="2040"/>
              </a:lnSpc>
            </a:pPr>
            <a:r>
              <a:rPr lang="en-US" sz="1700">
                <a:solidFill>
                  <a:srgbClr val="FFFFFF"/>
                </a:solidFill>
                <a:latin typeface="Arial"/>
                <a:ea typeface="Arial"/>
                <a:cs typeface="Arial"/>
                <a:sym typeface="Arial"/>
              </a:rPr>
              <a:t>public class Billing {</a:t>
            </a:r>
          </a:p>
          <a:p>
            <a:pPr algn="l">
              <a:lnSpc>
                <a:spcPts val="2040"/>
              </a:lnSpc>
            </a:pPr>
            <a:r>
              <a:rPr lang="en-US" sz="1700">
                <a:solidFill>
                  <a:srgbClr val="FFFFFF"/>
                </a:solidFill>
                <a:latin typeface="Arial"/>
                <a:ea typeface="Arial"/>
                <a:cs typeface="Arial"/>
                <a:sym typeface="Arial"/>
              </a:rPr>
              <a:t>    public static void main(String[] args) {</a:t>
            </a:r>
          </a:p>
          <a:p>
            <a:pPr algn="l">
              <a:lnSpc>
                <a:spcPts val="2040"/>
              </a:lnSpc>
            </a:pPr>
            <a:r>
              <a:rPr lang="en-US" sz="1700">
                <a:solidFill>
                  <a:srgbClr val="FFFFFF"/>
                </a:solidFill>
                <a:latin typeface="Arial"/>
                <a:ea typeface="Arial"/>
                <a:cs typeface="Arial"/>
                <a:sym typeface="Arial"/>
              </a:rPr>
              <a:t>        Scanner sc = new Scanner(System.in);</a:t>
            </a:r>
          </a:p>
          <a:p>
            <a:pPr algn="l">
              <a:lnSpc>
                <a:spcPts val="2040"/>
              </a:lnSpc>
            </a:pPr>
          </a:p>
          <a:p>
            <a:pPr algn="l">
              <a:lnSpc>
                <a:spcPts val="2040"/>
              </a:lnSpc>
            </a:pPr>
            <a:r>
              <a:rPr lang="en-US" sz="1700">
                <a:solidFill>
                  <a:srgbClr val="FFFFFF"/>
                </a:solidFill>
                <a:latin typeface="Arial"/>
                <a:ea typeface="Arial"/>
                <a:cs typeface="Arial"/>
                <a:sym typeface="Arial"/>
              </a:rPr>
              <a:t>        int choice, qty;</a:t>
            </a:r>
          </a:p>
          <a:p>
            <a:pPr algn="l">
              <a:lnSpc>
                <a:spcPts val="2040"/>
              </a:lnSpc>
            </a:pPr>
            <a:r>
              <a:rPr lang="en-US" sz="1700">
                <a:solidFill>
                  <a:srgbClr val="FFFFFF"/>
                </a:solidFill>
                <a:latin typeface="Arial"/>
                <a:ea typeface="Arial"/>
                <a:cs typeface="Arial"/>
                <a:sym typeface="Arial"/>
              </a:rPr>
              <a:t>        double total = 0;</a:t>
            </a:r>
          </a:p>
          <a:p>
            <a:pPr algn="l">
              <a:lnSpc>
                <a:spcPts val="2040"/>
              </a:lnSpc>
            </a:pPr>
          </a:p>
          <a:p>
            <a:pPr algn="l">
              <a:lnSpc>
                <a:spcPts val="2040"/>
              </a:lnSpc>
            </a:pPr>
            <a:r>
              <a:rPr lang="en-US" sz="1700">
                <a:solidFill>
                  <a:srgbClr val="FFFFFF"/>
                </a:solidFill>
                <a:latin typeface="Arial"/>
                <a:ea typeface="Arial"/>
                <a:cs typeface="Arial"/>
                <a:sym typeface="Arial"/>
              </a:rPr>
              <a:t>        System.out.println("1.Burger ₹100  2.Pizza ₹200  3.Juice ₹50");</a:t>
            </a:r>
          </a:p>
          <a:p>
            <a:pPr algn="l">
              <a:lnSpc>
                <a:spcPts val="2040"/>
              </a:lnSpc>
            </a:pPr>
            <a:r>
              <a:rPr lang="en-US" sz="1700">
                <a:solidFill>
                  <a:srgbClr val="FFFFFF"/>
                </a:solidFill>
                <a:latin typeface="Arial"/>
                <a:ea typeface="Arial"/>
                <a:cs typeface="Arial"/>
                <a:sym typeface="Arial"/>
              </a:rPr>
              <a:t>        </a:t>
            </a:r>
          </a:p>
          <a:p>
            <a:pPr algn="l">
              <a:lnSpc>
                <a:spcPts val="2040"/>
              </a:lnSpc>
            </a:pPr>
            <a:r>
              <a:rPr lang="en-US" sz="1700">
                <a:solidFill>
                  <a:srgbClr val="FFFFFF"/>
                </a:solidFill>
                <a:latin typeface="Arial"/>
                <a:ea typeface="Arial"/>
                <a:cs typeface="Arial"/>
                <a:sym typeface="Arial"/>
              </a:rPr>
              <a:t>        System.out.print("Enter choice: ");</a:t>
            </a:r>
          </a:p>
          <a:p>
            <a:pPr algn="l">
              <a:lnSpc>
                <a:spcPts val="2040"/>
              </a:lnSpc>
            </a:pPr>
            <a:r>
              <a:rPr lang="en-US" sz="1700">
                <a:solidFill>
                  <a:srgbClr val="FFFFFF"/>
                </a:solidFill>
                <a:latin typeface="Arial"/>
                <a:ea typeface="Arial"/>
                <a:cs typeface="Arial"/>
                <a:sym typeface="Arial"/>
              </a:rPr>
              <a:t>        choice = sc.nextInt();</a:t>
            </a:r>
          </a:p>
          <a:p>
            <a:pPr algn="l">
              <a:lnSpc>
                <a:spcPts val="2040"/>
              </a:lnSpc>
            </a:pPr>
          </a:p>
          <a:p>
            <a:pPr algn="l">
              <a:lnSpc>
                <a:spcPts val="2040"/>
              </a:lnSpc>
            </a:pPr>
            <a:r>
              <a:rPr lang="en-US" sz="1700">
                <a:solidFill>
                  <a:srgbClr val="FFFFFF"/>
                </a:solidFill>
                <a:latin typeface="Arial"/>
                <a:ea typeface="Arial"/>
                <a:cs typeface="Arial"/>
                <a:sym typeface="Arial"/>
              </a:rPr>
              <a:t>        System.out.print("Enter quantity: ");</a:t>
            </a:r>
          </a:p>
          <a:p>
            <a:pPr algn="l">
              <a:lnSpc>
                <a:spcPts val="2040"/>
              </a:lnSpc>
            </a:pPr>
            <a:r>
              <a:rPr lang="en-US" sz="1700">
                <a:solidFill>
                  <a:srgbClr val="FFFFFF"/>
                </a:solidFill>
                <a:latin typeface="Arial"/>
                <a:ea typeface="Arial"/>
                <a:cs typeface="Arial"/>
                <a:sym typeface="Arial"/>
              </a:rPr>
              <a:t>        qty = sc.nextInt();</a:t>
            </a:r>
          </a:p>
          <a:p>
            <a:pPr algn="l">
              <a:lnSpc>
                <a:spcPts val="2040"/>
              </a:lnSpc>
            </a:pPr>
          </a:p>
          <a:p>
            <a:pPr algn="l">
              <a:lnSpc>
                <a:spcPts val="2040"/>
              </a:lnSpc>
            </a:pPr>
            <a:r>
              <a:rPr lang="en-US" sz="1700">
                <a:solidFill>
                  <a:srgbClr val="FFFFFF"/>
                </a:solidFill>
                <a:latin typeface="Arial"/>
                <a:ea typeface="Arial"/>
                <a:cs typeface="Arial"/>
                <a:sym typeface="Arial"/>
              </a:rPr>
              <a:t>        switch(choice) {</a:t>
            </a:r>
          </a:p>
          <a:p>
            <a:pPr algn="l">
              <a:lnSpc>
                <a:spcPts val="2040"/>
              </a:lnSpc>
            </a:pPr>
            <a:r>
              <a:rPr lang="en-US" sz="1700">
                <a:solidFill>
                  <a:srgbClr val="FFFFFF"/>
                </a:solidFill>
                <a:latin typeface="Arial"/>
                <a:ea typeface="Arial"/>
                <a:cs typeface="Arial"/>
                <a:sym typeface="Arial"/>
              </a:rPr>
              <a:t>            case 1: total = qty * 100; break;</a:t>
            </a:r>
          </a:p>
          <a:p>
            <a:pPr algn="l">
              <a:lnSpc>
                <a:spcPts val="2040"/>
              </a:lnSpc>
            </a:pPr>
            <a:r>
              <a:rPr lang="en-US" sz="1700">
                <a:solidFill>
                  <a:srgbClr val="FFFFFF"/>
                </a:solidFill>
                <a:latin typeface="Arial"/>
                <a:ea typeface="Arial"/>
                <a:cs typeface="Arial"/>
                <a:sym typeface="Arial"/>
              </a:rPr>
              <a:t>            case 2: total = qty * 200; break;</a:t>
            </a:r>
          </a:p>
          <a:p>
            <a:pPr algn="l">
              <a:lnSpc>
                <a:spcPts val="2040"/>
              </a:lnSpc>
            </a:pPr>
            <a:r>
              <a:rPr lang="en-US" sz="1700">
                <a:solidFill>
                  <a:srgbClr val="FFFFFF"/>
                </a:solidFill>
                <a:latin typeface="Arial"/>
                <a:ea typeface="Arial"/>
                <a:cs typeface="Arial"/>
                <a:sym typeface="Arial"/>
              </a:rPr>
              <a:t>            case 3: total = qty * 50; break;</a:t>
            </a:r>
          </a:p>
          <a:p>
            <a:pPr algn="l">
              <a:lnSpc>
                <a:spcPts val="2040"/>
              </a:lnSpc>
            </a:pPr>
            <a:r>
              <a:rPr lang="en-US" sz="1700">
                <a:solidFill>
                  <a:srgbClr val="FFFFFF"/>
                </a:solidFill>
                <a:latin typeface="Arial"/>
                <a:ea typeface="Arial"/>
                <a:cs typeface="Arial"/>
                <a:sym typeface="Arial"/>
              </a:rPr>
              <a:t>            default: System.out.println("Invalid choice");</a:t>
            </a:r>
          </a:p>
          <a:p>
            <a:pPr algn="l">
              <a:lnSpc>
                <a:spcPts val="2040"/>
              </a:lnSpc>
            </a:pPr>
            <a:r>
              <a:rPr lang="en-US" sz="1700">
                <a:solidFill>
                  <a:srgbClr val="FFFFFF"/>
                </a:solidFill>
                <a:latin typeface="Arial"/>
                <a:ea typeface="Arial"/>
                <a:cs typeface="Arial"/>
                <a:sym typeface="Arial"/>
              </a:rPr>
              <a:t>        }</a:t>
            </a:r>
          </a:p>
          <a:p>
            <a:pPr algn="l">
              <a:lnSpc>
                <a:spcPts val="2040"/>
              </a:lnSpc>
            </a:pPr>
          </a:p>
          <a:p>
            <a:pPr algn="l">
              <a:lnSpc>
                <a:spcPts val="2040"/>
              </a:lnSpc>
            </a:pPr>
            <a:r>
              <a:rPr lang="en-US" sz="1700">
                <a:solidFill>
                  <a:srgbClr val="FFFFFF"/>
                </a:solidFill>
                <a:latin typeface="Arial"/>
                <a:ea typeface="Arial"/>
                <a:cs typeface="Arial"/>
                <a:sym typeface="Arial"/>
              </a:rPr>
              <a:t>        double tax = total * 0.05;</a:t>
            </a:r>
          </a:p>
          <a:p>
            <a:pPr algn="l">
              <a:lnSpc>
                <a:spcPts val="2040"/>
              </a:lnSpc>
            </a:pPr>
            <a:r>
              <a:rPr lang="en-US" sz="1700">
                <a:solidFill>
                  <a:srgbClr val="FFFFFF"/>
                </a:solidFill>
                <a:latin typeface="Arial"/>
                <a:ea typeface="Arial"/>
                <a:cs typeface="Arial"/>
                <a:sym typeface="Arial"/>
              </a:rPr>
              <a:t>        double bill = total + tax;</a:t>
            </a:r>
          </a:p>
          <a:p>
            <a:pPr algn="l">
              <a:lnSpc>
                <a:spcPts val="2040"/>
              </a:lnSpc>
            </a:pPr>
          </a:p>
          <a:p>
            <a:pPr algn="l">
              <a:lnSpc>
                <a:spcPts val="2040"/>
              </a:lnSpc>
            </a:pPr>
            <a:r>
              <a:rPr lang="en-US" sz="1700">
                <a:solidFill>
                  <a:srgbClr val="FFFFFF"/>
                </a:solidFill>
                <a:latin typeface="Arial"/>
                <a:ea typeface="Arial"/>
                <a:cs typeface="Arial"/>
                <a:sym typeface="Arial"/>
              </a:rPr>
              <a:t>        System.out.println("Total = ₹" + total);</a:t>
            </a:r>
          </a:p>
          <a:p>
            <a:pPr algn="l">
              <a:lnSpc>
                <a:spcPts val="2040"/>
              </a:lnSpc>
            </a:pPr>
            <a:r>
              <a:rPr lang="en-US" sz="1700">
                <a:solidFill>
                  <a:srgbClr val="FFFFFF"/>
                </a:solidFill>
                <a:latin typeface="Arial"/>
                <a:ea typeface="Arial"/>
                <a:cs typeface="Arial"/>
                <a:sym typeface="Arial"/>
              </a:rPr>
              <a:t>        System.out.println("Final Bill = ₹" + bill);</a:t>
            </a:r>
          </a:p>
          <a:p>
            <a:pPr algn="l">
              <a:lnSpc>
                <a:spcPts val="2040"/>
              </a:lnSpc>
            </a:pPr>
            <a:r>
              <a:rPr lang="en-US" sz="1700">
                <a:solidFill>
                  <a:srgbClr val="FFFFFF"/>
                </a:solidFill>
                <a:latin typeface="Arial"/>
                <a:ea typeface="Arial"/>
                <a:cs typeface="Arial"/>
                <a:sym typeface="Arial"/>
              </a:rPr>
              <a:t>    }</a:t>
            </a:r>
          </a:p>
          <a:p>
            <a:pPr algn="l">
              <a:lnSpc>
                <a:spcPts val="2040"/>
              </a:lnSpc>
            </a:pPr>
            <a:r>
              <a:rPr lang="en-US" sz="1700">
                <a:solidFill>
                  <a:srgbClr val="FFFFFF"/>
                </a:solidFill>
                <a:latin typeface="Arial"/>
                <a:ea typeface="Arial"/>
                <a:cs typeface="Arial"/>
                <a:sym typeface="Arial"/>
              </a:rPr>
              <a:t>}</a:t>
            </a:r>
          </a:p>
        </p:txBody>
      </p:sp>
    </p:spTree>
  </p:cSld>
  <p:clrMapOvr>
    <a:masterClrMapping/>
  </p:clrMapOvr>
  <p:transition spd="fast">
    <p:fade/>
  </p:transition>
</p:sld>
</file>

<file path=ppt/slides/slide10.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4FBFE">
                <a:alpha val="100000"/>
              </a:srgbClr>
            </a:gs>
            <a:gs pos="74000">
              <a:srgbClr val="99DAF3">
                <a:alpha val="100000"/>
              </a:srgbClr>
            </a:gs>
            <a:gs pos="83000">
              <a:srgbClr val="99DAF3">
                <a:alpha val="100000"/>
              </a:srgbClr>
            </a:gs>
            <a:gs pos="100000">
              <a:srgbClr val="BBE6F7">
                <a:alpha val="100000"/>
              </a:srgbClr>
            </a:gs>
          </a:gsLst>
          <a:lin ang="5400000"/>
        </a:gradFill>
      </p:bgPr>
    </p:bg>
    <p:spTree>
      <p:nvGrpSpPr>
        <p:cNvPr id="1" name=""/>
        <p:cNvGrpSpPr/>
        <p:nvPr/>
      </p:nvGrpSpPr>
      <p:grpSpPr>
        <a:xfrm>
          <a:off x="0" y="0"/>
          <a:ext cx="0" cy="0"/>
          <a:chOff x="0" y="0"/>
          <a:chExt cx="0" cy="0"/>
        </a:xfrm>
      </p:grpSpPr>
      <p:sp>
        <p:nvSpPr>
          <p:cNvPr name="AutoShape 2" id="2"/>
          <p:cNvSpPr/>
          <p:nvPr/>
        </p:nvSpPr>
        <p:spPr>
          <a:xfrm rot="-5328540">
            <a:off x="442398" y="1915849"/>
            <a:ext cx="1401013" cy="0"/>
          </a:xfrm>
          <a:prstGeom prst="line">
            <a:avLst/>
          </a:prstGeom>
          <a:ln cap="rnd" w="19050">
            <a:solidFill>
              <a:srgbClr val="1CADE4"/>
            </a:solidFill>
            <a:prstDash val="solid"/>
            <a:headEnd type="none" len="sm" w="sm"/>
            <a:tailEnd type="none" len="sm" w="sm"/>
          </a:ln>
        </p:spPr>
      </p:sp>
      <p:grpSp>
        <p:nvGrpSpPr>
          <p:cNvPr name="Group 3" id="3"/>
          <p:cNvGrpSpPr/>
          <p:nvPr/>
        </p:nvGrpSpPr>
        <p:grpSpPr>
          <a:xfrm rot="0">
            <a:off x="446745" y="507796"/>
            <a:ext cx="17841255" cy="9039950"/>
            <a:chOff x="0" y="0"/>
            <a:chExt cx="23788340" cy="12053266"/>
          </a:xfrm>
        </p:grpSpPr>
        <p:sp>
          <p:nvSpPr>
            <p:cNvPr name="Freeform 4" id="4">
              <a:extLst>
                <a:ext uri="{C183D7F6-B498-43B3-948B-1728B52AA6E4}">
                  <adec:decorative xmlns:adec="http://schemas.microsoft.com/office/drawing/2017/decorative" val="1"/>
                </a:ext>
              </a:extLst>
            </p:cNvPr>
            <p:cNvSpPr/>
            <p:nvPr/>
          </p:nvSpPr>
          <p:spPr>
            <a:xfrm flipH="false" flipV="false" rot="0">
              <a:off x="0" y="0"/>
              <a:ext cx="23788315" cy="12053232"/>
            </a:xfrm>
            <a:custGeom>
              <a:avLst/>
              <a:gdLst/>
              <a:ahLst/>
              <a:cxnLst/>
              <a:rect r="r" b="b" t="t" l="l"/>
              <a:pathLst>
                <a:path h="12053232" w="23788315">
                  <a:moveTo>
                    <a:pt x="0" y="0"/>
                  </a:moveTo>
                  <a:lnTo>
                    <a:pt x="23788315" y="0"/>
                  </a:lnTo>
                  <a:lnTo>
                    <a:pt x="23788315" y="12053232"/>
                  </a:lnTo>
                  <a:lnTo>
                    <a:pt x="0" y="12053232"/>
                  </a:lnTo>
                  <a:close/>
                </a:path>
              </a:pathLst>
            </a:custGeom>
            <a:solidFill>
              <a:srgbClr val="000000"/>
            </a:solidFill>
          </p:spPr>
        </p:sp>
      </p:grpSp>
      <p:grpSp>
        <p:nvGrpSpPr>
          <p:cNvPr name="Group 5" id="5"/>
          <p:cNvGrpSpPr/>
          <p:nvPr/>
        </p:nvGrpSpPr>
        <p:grpSpPr>
          <a:xfrm rot="0">
            <a:off x="4159444" y="507796"/>
            <a:ext cx="14128556" cy="9039950"/>
            <a:chOff x="0" y="0"/>
            <a:chExt cx="18838075" cy="12053266"/>
          </a:xfrm>
        </p:grpSpPr>
        <p:sp>
          <p:nvSpPr>
            <p:cNvPr name="Freeform 6" id="6">
              <a:extLst>
                <a:ext uri="{C183D7F6-B498-43B3-948B-1728B52AA6E4}">
                  <adec:decorative xmlns:adec="http://schemas.microsoft.com/office/drawing/2017/decorative" val="1"/>
                </a:ext>
              </a:extLst>
            </p:cNvPr>
            <p:cNvSpPr/>
            <p:nvPr/>
          </p:nvSpPr>
          <p:spPr>
            <a:xfrm flipH="false" flipV="false" rot="0">
              <a:off x="0" y="0"/>
              <a:ext cx="18838049" cy="12053279"/>
            </a:xfrm>
            <a:custGeom>
              <a:avLst/>
              <a:gdLst/>
              <a:ahLst/>
              <a:cxnLst/>
              <a:rect r="r" b="b" t="t" l="l"/>
              <a:pathLst>
                <a:path h="12053279" w="18838049">
                  <a:moveTo>
                    <a:pt x="0" y="0"/>
                  </a:moveTo>
                  <a:lnTo>
                    <a:pt x="18838049" y="0"/>
                  </a:lnTo>
                  <a:lnTo>
                    <a:pt x="18838049" y="12053279"/>
                  </a:lnTo>
                  <a:lnTo>
                    <a:pt x="0" y="12053279"/>
                  </a:lnTo>
                  <a:close/>
                </a:path>
              </a:pathLst>
            </a:custGeom>
            <a:solidFill>
              <a:srgbClr val="404040"/>
            </a:solidFill>
          </p:spPr>
        </p:sp>
      </p:grpSp>
      <p:grpSp>
        <p:nvGrpSpPr>
          <p:cNvPr name="Group 7" id="7"/>
          <p:cNvGrpSpPr/>
          <p:nvPr/>
        </p:nvGrpSpPr>
        <p:grpSpPr>
          <a:xfrm rot="0">
            <a:off x="4443144" y="543"/>
            <a:ext cx="11884323" cy="2249100"/>
            <a:chOff x="0" y="0"/>
            <a:chExt cx="15845765" cy="2998800"/>
          </a:xfrm>
        </p:grpSpPr>
        <p:sp>
          <p:nvSpPr>
            <p:cNvPr name="Freeform 8" id="8"/>
            <p:cNvSpPr/>
            <p:nvPr/>
          </p:nvSpPr>
          <p:spPr>
            <a:xfrm flipH="false" flipV="false" rot="0">
              <a:off x="0" y="0"/>
              <a:ext cx="15845760" cy="2998800"/>
            </a:xfrm>
            <a:custGeom>
              <a:avLst/>
              <a:gdLst/>
              <a:ahLst/>
              <a:cxnLst/>
              <a:rect r="r" b="b" t="t" l="l"/>
              <a:pathLst>
                <a:path h="2998800" w="15845760">
                  <a:moveTo>
                    <a:pt x="0" y="0"/>
                  </a:moveTo>
                  <a:lnTo>
                    <a:pt x="15845760" y="0"/>
                  </a:lnTo>
                  <a:lnTo>
                    <a:pt x="15845760" y="2998800"/>
                  </a:lnTo>
                  <a:lnTo>
                    <a:pt x="0" y="2998800"/>
                  </a:lnTo>
                  <a:close/>
                </a:path>
              </a:pathLst>
            </a:custGeom>
            <a:blipFill>
              <a:blip r:embed="rId2">
                <a:alphaModFix amt="0"/>
              </a:blip>
              <a:stretch>
                <a:fillRect l="0" t="-52959" r="0" b="-52959"/>
              </a:stretch>
            </a:blipFill>
          </p:spPr>
        </p:sp>
        <p:sp>
          <p:nvSpPr>
            <p:cNvPr name="TextBox 9" id="9"/>
            <p:cNvSpPr txBox="true"/>
            <p:nvPr/>
          </p:nvSpPr>
          <p:spPr>
            <a:xfrm>
              <a:off x="0" y="152400"/>
              <a:ext cx="15845765" cy="2846400"/>
            </a:xfrm>
            <a:prstGeom prst="rect">
              <a:avLst/>
            </a:prstGeom>
          </p:spPr>
          <p:txBody>
            <a:bodyPr anchor="ctr" rtlCol="false" tIns="0" lIns="0" bIns="0" rIns="0"/>
            <a:lstStyle/>
            <a:p>
              <a:pPr algn="l">
                <a:lnSpc>
                  <a:spcPts val="7200"/>
                </a:lnSpc>
              </a:pPr>
              <a:r>
                <a:rPr lang="en-US" sz="7500" spc="162">
                  <a:solidFill>
                    <a:srgbClr val="FFFFFF"/>
                  </a:solidFill>
                  <a:latin typeface="Big Shoulders Display"/>
                  <a:ea typeface="Big Shoulders Display"/>
                  <a:cs typeface="Big Shoulders Display"/>
                  <a:sym typeface="Big Shoulders Display"/>
                </a:rPr>
                <a:t>Output Screens</a:t>
              </a:r>
            </a:p>
          </p:txBody>
        </p:sp>
      </p:grpSp>
      <p:grpSp>
        <p:nvGrpSpPr>
          <p:cNvPr name="Group 10" id="10"/>
          <p:cNvGrpSpPr/>
          <p:nvPr/>
        </p:nvGrpSpPr>
        <p:grpSpPr>
          <a:xfrm rot="0">
            <a:off x="712803" y="726843"/>
            <a:ext cx="3193018" cy="8820902"/>
            <a:chOff x="0" y="0"/>
            <a:chExt cx="4257358" cy="11761203"/>
          </a:xfrm>
        </p:grpSpPr>
        <p:sp>
          <p:nvSpPr>
            <p:cNvPr name="Freeform 11" id="11">
              <a:extLst>
                <a:ext uri="{C183D7F6-B498-43B3-948B-1728B52AA6E4}">
                  <adec:decorative xmlns:adec="http://schemas.microsoft.com/office/drawing/2017/decorative" val="1"/>
                </a:ext>
              </a:extLst>
            </p:cNvPr>
            <p:cNvSpPr/>
            <p:nvPr/>
          </p:nvSpPr>
          <p:spPr>
            <a:xfrm flipH="false" flipV="false" rot="0">
              <a:off x="0" y="0"/>
              <a:ext cx="4257421" cy="11761216"/>
            </a:xfrm>
            <a:custGeom>
              <a:avLst/>
              <a:gdLst/>
              <a:ahLst/>
              <a:cxnLst/>
              <a:rect r="r" b="b" t="t" l="l"/>
              <a:pathLst>
                <a:path h="11761216" w="4257421">
                  <a:moveTo>
                    <a:pt x="0" y="0"/>
                  </a:moveTo>
                  <a:lnTo>
                    <a:pt x="4257421" y="0"/>
                  </a:lnTo>
                  <a:lnTo>
                    <a:pt x="4257421" y="11761216"/>
                  </a:lnTo>
                  <a:lnTo>
                    <a:pt x="0" y="11761216"/>
                  </a:lnTo>
                  <a:close/>
                </a:path>
              </a:pathLst>
            </a:custGeom>
            <a:solidFill>
              <a:srgbClr val="1CADE4"/>
            </a:solidFill>
          </p:spPr>
        </p:sp>
      </p:grpSp>
      <p:grpSp>
        <p:nvGrpSpPr>
          <p:cNvPr name="Group 12" id="12"/>
          <p:cNvGrpSpPr/>
          <p:nvPr/>
        </p:nvGrpSpPr>
        <p:grpSpPr>
          <a:xfrm rot="0">
            <a:off x="849420" y="982256"/>
            <a:ext cx="2816638" cy="703621"/>
            <a:chOff x="0" y="0"/>
            <a:chExt cx="3755517" cy="938162"/>
          </a:xfrm>
        </p:grpSpPr>
        <p:sp>
          <p:nvSpPr>
            <p:cNvPr name="Freeform 13" id="13" descr="A blue and red logo  AI-generated content may be incorrect."/>
            <p:cNvSpPr/>
            <p:nvPr/>
          </p:nvSpPr>
          <p:spPr>
            <a:xfrm flipH="false" flipV="false" rot="0">
              <a:off x="0" y="0"/>
              <a:ext cx="3755517" cy="938149"/>
            </a:xfrm>
            <a:custGeom>
              <a:avLst/>
              <a:gdLst/>
              <a:ahLst/>
              <a:cxnLst/>
              <a:rect r="r" b="b" t="t" l="l"/>
              <a:pathLst>
                <a:path h="938149" w="3755517">
                  <a:moveTo>
                    <a:pt x="0" y="0"/>
                  </a:moveTo>
                  <a:lnTo>
                    <a:pt x="3755517" y="0"/>
                  </a:lnTo>
                  <a:lnTo>
                    <a:pt x="3755517" y="938149"/>
                  </a:lnTo>
                  <a:lnTo>
                    <a:pt x="0" y="938149"/>
                  </a:lnTo>
                  <a:lnTo>
                    <a:pt x="0" y="0"/>
                  </a:lnTo>
                  <a:close/>
                </a:path>
              </a:pathLst>
            </a:custGeom>
            <a:blipFill>
              <a:blip r:embed="rId3"/>
              <a:stretch>
                <a:fillRect l="0" t="-37" r="0" b="-40"/>
              </a:stretch>
            </a:blipFill>
          </p:spPr>
        </p:sp>
      </p:grpSp>
      <p:grpSp>
        <p:nvGrpSpPr>
          <p:cNvPr name="Group 14" id="14"/>
          <p:cNvGrpSpPr/>
          <p:nvPr/>
        </p:nvGrpSpPr>
        <p:grpSpPr>
          <a:xfrm rot="0">
            <a:off x="1128344" y="-872476"/>
            <a:ext cx="2137972" cy="9145983"/>
            <a:chOff x="0" y="0"/>
            <a:chExt cx="2850629" cy="12194644"/>
          </a:xfrm>
        </p:grpSpPr>
        <p:sp>
          <p:nvSpPr>
            <p:cNvPr name="Freeform 15" id="15"/>
            <p:cNvSpPr/>
            <p:nvPr/>
          </p:nvSpPr>
          <p:spPr>
            <a:xfrm flipH="false" flipV="false" rot="0">
              <a:off x="0" y="0"/>
              <a:ext cx="2850632" cy="12194647"/>
            </a:xfrm>
            <a:custGeom>
              <a:avLst/>
              <a:gdLst/>
              <a:ahLst/>
              <a:cxnLst/>
              <a:rect r="r" b="b" t="t" l="l"/>
              <a:pathLst>
                <a:path h="12194647" w="2850632">
                  <a:moveTo>
                    <a:pt x="0" y="0"/>
                  </a:moveTo>
                  <a:lnTo>
                    <a:pt x="2850632" y="0"/>
                  </a:lnTo>
                  <a:lnTo>
                    <a:pt x="2850632" y="12194647"/>
                  </a:lnTo>
                  <a:lnTo>
                    <a:pt x="0" y="12194647"/>
                  </a:lnTo>
                  <a:close/>
                </a:path>
              </a:pathLst>
            </a:custGeom>
            <a:blipFill>
              <a:blip r:embed="rId2">
                <a:alphaModFix amt="0"/>
              </a:blip>
              <a:stretch>
                <a:fillRect l="-439375" t="0" r="-471118" b="7947"/>
              </a:stretch>
            </a:blipFill>
          </p:spPr>
        </p:sp>
        <p:sp>
          <p:nvSpPr>
            <p:cNvPr name="TextBox 16" id="16"/>
            <p:cNvSpPr txBox="true"/>
            <p:nvPr/>
          </p:nvSpPr>
          <p:spPr>
            <a:xfrm>
              <a:off x="0" y="76200"/>
              <a:ext cx="2850629" cy="12118444"/>
            </a:xfrm>
            <a:prstGeom prst="rect">
              <a:avLst/>
            </a:prstGeom>
          </p:spPr>
          <p:txBody>
            <a:bodyPr anchor="ctr" rtlCol="false" tIns="0" lIns="0" bIns="0" rIns="0"/>
            <a:lstStyle/>
            <a:p>
              <a:pPr algn="l">
                <a:lnSpc>
                  <a:spcPts val="3455"/>
                </a:lnSpc>
              </a:pPr>
              <a:r>
                <a:rPr lang="en-US" sz="3599" spc="185">
                  <a:solidFill>
                    <a:srgbClr val="FFFFFF"/>
                  </a:solidFill>
                  <a:latin typeface="Big Shoulders Display"/>
                  <a:ea typeface="Big Shoulders Display"/>
                  <a:cs typeface="Big Shoulders Display"/>
                  <a:sym typeface="Big Shoulders Display"/>
                </a:rPr>
                <a:t>Java </a:t>
              </a:r>
              <a:r>
                <a:rPr lang="en-US" sz="3599" spc="185">
                  <a:solidFill>
                    <a:srgbClr val="FFFFFF"/>
                  </a:solidFill>
                  <a:latin typeface="Big Shoulders Display"/>
                  <a:ea typeface="Big Shoulders Display"/>
                  <a:cs typeface="Big Shoulders Display"/>
                  <a:sym typeface="Big Shoulders Display"/>
                </a:rPr>
                <a:t>Project Presentation</a:t>
              </a:r>
            </a:p>
          </p:txBody>
        </p:sp>
      </p:grpSp>
      <p:sp>
        <p:nvSpPr>
          <p:cNvPr name="TextBox 17" id="17"/>
          <p:cNvSpPr txBox="true"/>
          <p:nvPr/>
        </p:nvSpPr>
        <p:spPr>
          <a:xfrm rot="0">
            <a:off x="4689507" y="2148700"/>
            <a:ext cx="3780640" cy="6680835"/>
          </a:xfrm>
          <a:prstGeom prst="rect">
            <a:avLst/>
          </a:prstGeom>
        </p:spPr>
        <p:txBody>
          <a:bodyPr anchor="t" rtlCol="false" tIns="0" lIns="0" bIns="0" rIns="0">
            <a:spAutoFit/>
          </a:bodyPr>
          <a:lstStyle/>
          <a:p>
            <a:pPr algn="ctr">
              <a:lnSpc>
                <a:spcPts val="2940"/>
              </a:lnSpc>
              <a:spcBef>
                <a:spcPct val="0"/>
              </a:spcBef>
            </a:pPr>
            <a:r>
              <a:rPr lang="en-US" sz="2100" spc="45">
                <a:solidFill>
                  <a:srgbClr val="FFFFFF"/>
                </a:solidFill>
                <a:latin typeface="Big Shoulders Display"/>
                <a:ea typeface="Big Shoulders Display"/>
                <a:cs typeface="Big Shoulders Display"/>
                <a:sym typeface="Big Shoulders Display"/>
              </a:rPr>
              <a:t>--- MENU ---</a:t>
            </a:r>
          </a:p>
          <a:p>
            <a:pPr algn="ctr">
              <a:lnSpc>
                <a:spcPts val="2940"/>
              </a:lnSpc>
              <a:spcBef>
                <a:spcPct val="0"/>
              </a:spcBef>
            </a:pPr>
            <a:r>
              <a:rPr lang="en-US" sz="2100" spc="45">
                <a:solidFill>
                  <a:srgbClr val="FFFFFF"/>
                </a:solidFill>
                <a:latin typeface="Big Shoulders Display"/>
                <a:ea typeface="Big Shoulders Display"/>
                <a:cs typeface="Big Shoulders Display"/>
                <a:sym typeface="Big Shoulders Display"/>
              </a:rPr>
              <a:t>1. Burger - ₹100</a:t>
            </a:r>
          </a:p>
          <a:p>
            <a:pPr algn="ctr">
              <a:lnSpc>
                <a:spcPts val="2940"/>
              </a:lnSpc>
              <a:spcBef>
                <a:spcPct val="0"/>
              </a:spcBef>
            </a:pPr>
            <a:r>
              <a:rPr lang="en-US" sz="2100" spc="45">
                <a:solidFill>
                  <a:srgbClr val="FFFFFF"/>
                </a:solidFill>
                <a:latin typeface="Big Shoulders Display"/>
                <a:ea typeface="Big Shoulders Display"/>
                <a:cs typeface="Big Shoulders Display"/>
                <a:sym typeface="Big Shoulders Display"/>
              </a:rPr>
              <a:t>2. Pizza - ₹200</a:t>
            </a:r>
          </a:p>
          <a:p>
            <a:pPr algn="ctr">
              <a:lnSpc>
                <a:spcPts val="2940"/>
              </a:lnSpc>
              <a:spcBef>
                <a:spcPct val="0"/>
              </a:spcBef>
            </a:pPr>
            <a:r>
              <a:rPr lang="en-US" sz="2100" spc="45">
                <a:solidFill>
                  <a:srgbClr val="FFFFFF"/>
                </a:solidFill>
                <a:latin typeface="Big Shoulders Display"/>
                <a:ea typeface="Big Shoulders Display"/>
                <a:cs typeface="Big Shoulders Display"/>
                <a:sym typeface="Big Shoulders Display"/>
              </a:rPr>
              <a:t>3. Juice - ₹50</a:t>
            </a:r>
          </a:p>
          <a:p>
            <a:pPr algn="ctr">
              <a:lnSpc>
                <a:spcPts val="2940"/>
              </a:lnSpc>
              <a:spcBef>
                <a:spcPct val="0"/>
              </a:spcBef>
            </a:pPr>
            <a:r>
              <a:rPr lang="en-US" sz="2100" spc="45">
                <a:solidFill>
                  <a:srgbClr val="FFFFFF"/>
                </a:solidFill>
                <a:latin typeface="Big Shoulders Display"/>
                <a:ea typeface="Big Shoulders Display"/>
                <a:cs typeface="Big Shoulders Display"/>
                <a:sym typeface="Big Shoulders Display"/>
              </a:rPr>
              <a:t>4. Exit</a:t>
            </a:r>
          </a:p>
          <a:p>
            <a:pPr algn="ctr">
              <a:lnSpc>
                <a:spcPts val="2940"/>
              </a:lnSpc>
              <a:spcBef>
                <a:spcPct val="0"/>
              </a:spcBef>
            </a:pPr>
            <a:r>
              <a:rPr lang="en-US" sz="2100" spc="45">
                <a:solidFill>
                  <a:srgbClr val="FFFFFF"/>
                </a:solidFill>
                <a:latin typeface="Big Shoulders Display"/>
                <a:ea typeface="Big Shoulders Display"/>
                <a:cs typeface="Big Shoulders Display"/>
                <a:sym typeface="Big Shoulders Display"/>
              </a:rPr>
              <a:t>Enter your choice: 1</a:t>
            </a:r>
          </a:p>
          <a:p>
            <a:pPr algn="ctr">
              <a:lnSpc>
                <a:spcPts val="2940"/>
              </a:lnSpc>
              <a:spcBef>
                <a:spcPct val="0"/>
              </a:spcBef>
            </a:pPr>
            <a:r>
              <a:rPr lang="en-US" sz="2100" spc="45">
                <a:solidFill>
                  <a:srgbClr val="FFFFFF"/>
                </a:solidFill>
                <a:latin typeface="Big Shoulders Display"/>
                <a:ea typeface="Big Shoulders Display"/>
                <a:cs typeface="Big Shoulders Display"/>
                <a:sym typeface="Big Shoulders Display"/>
              </a:rPr>
              <a:t>Enter quantity: 2</a:t>
            </a:r>
          </a:p>
          <a:p>
            <a:pPr algn="ctr">
              <a:lnSpc>
                <a:spcPts val="2940"/>
              </a:lnSpc>
              <a:spcBef>
                <a:spcPct val="0"/>
              </a:spcBef>
            </a:pPr>
          </a:p>
          <a:p>
            <a:pPr algn="ctr">
              <a:lnSpc>
                <a:spcPts val="2940"/>
              </a:lnSpc>
              <a:spcBef>
                <a:spcPct val="0"/>
              </a:spcBef>
            </a:pPr>
            <a:r>
              <a:rPr lang="en-US" sz="2100" spc="45">
                <a:solidFill>
                  <a:srgbClr val="FFFFFF"/>
                </a:solidFill>
                <a:latin typeface="Big Shoulders Display"/>
                <a:ea typeface="Big Shoulders Display"/>
                <a:cs typeface="Big Shoulders Display"/>
                <a:sym typeface="Big Shoulders Display"/>
              </a:rPr>
              <a:t>--- MENU ---</a:t>
            </a:r>
          </a:p>
          <a:p>
            <a:pPr algn="ctr">
              <a:lnSpc>
                <a:spcPts val="2940"/>
              </a:lnSpc>
              <a:spcBef>
                <a:spcPct val="0"/>
              </a:spcBef>
            </a:pPr>
            <a:r>
              <a:rPr lang="en-US" sz="2100" spc="45">
                <a:solidFill>
                  <a:srgbClr val="FFFFFF"/>
                </a:solidFill>
                <a:latin typeface="Big Shoulders Display"/>
                <a:ea typeface="Big Shoulders Display"/>
                <a:cs typeface="Big Shoulders Display"/>
                <a:sym typeface="Big Shoulders Display"/>
              </a:rPr>
              <a:t>Enter your choice: 3</a:t>
            </a:r>
          </a:p>
          <a:p>
            <a:pPr algn="ctr">
              <a:lnSpc>
                <a:spcPts val="2940"/>
              </a:lnSpc>
              <a:spcBef>
                <a:spcPct val="0"/>
              </a:spcBef>
            </a:pPr>
            <a:r>
              <a:rPr lang="en-US" sz="2100" spc="45">
                <a:solidFill>
                  <a:srgbClr val="FFFFFF"/>
                </a:solidFill>
                <a:latin typeface="Big Shoulders Display"/>
                <a:ea typeface="Big Shoulders Display"/>
                <a:cs typeface="Big Shoulders Display"/>
                <a:sym typeface="Big Shoulders Display"/>
              </a:rPr>
              <a:t>Enter quantity: 1</a:t>
            </a:r>
          </a:p>
          <a:p>
            <a:pPr algn="ctr">
              <a:lnSpc>
                <a:spcPts val="2940"/>
              </a:lnSpc>
              <a:spcBef>
                <a:spcPct val="0"/>
              </a:spcBef>
            </a:pPr>
          </a:p>
          <a:p>
            <a:pPr algn="ctr">
              <a:lnSpc>
                <a:spcPts val="2940"/>
              </a:lnSpc>
              <a:spcBef>
                <a:spcPct val="0"/>
              </a:spcBef>
            </a:pPr>
            <a:r>
              <a:rPr lang="en-US" sz="2100" spc="45">
                <a:solidFill>
                  <a:srgbClr val="FFFFFF"/>
                </a:solidFill>
                <a:latin typeface="Big Shoulders Display"/>
                <a:ea typeface="Big Shoulders Display"/>
                <a:cs typeface="Big Shoulders Display"/>
                <a:sym typeface="Big Shoulders Display"/>
              </a:rPr>
              <a:t>--- MENU ---</a:t>
            </a:r>
          </a:p>
          <a:p>
            <a:pPr algn="ctr">
              <a:lnSpc>
                <a:spcPts val="2940"/>
              </a:lnSpc>
              <a:spcBef>
                <a:spcPct val="0"/>
              </a:spcBef>
            </a:pPr>
            <a:r>
              <a:rPr lang="en-US" sz="2100" spc="45">
                <a:solidFill>
                  <a:srgbClr val="FFFFFF"/>
                </a:solidFill>
                <a:latin typeface="Big Shoulders Display"/>
                <a:ea typeface="Big Shoulders Display"/>
                <a:cs typeface="Big Shoulders Display"/>
                <a:sym typeface="Big Shoulders Display"/>
              </a:rPr>
              <a:t>Enter your choice: 4</a:t>
            </a:r>
          </a:p>
          <a:p>
            <a:pPr algn="ctr">
              <a:lnSpc>
                <a:spcPts val="2940"/>
              </a:lnSpc>
              <a:spcBef>
                <a:spcPct val="0"/>
              </a:spcBef>
            </a:pPr>
          </a:p>
          <a:p>
            <a:pPr algn="ctr">
              <a:lnSpc>
                <a:spcPts val="2940"/>
              </a:lnSpc>
              <a:spcBef>
                <a:spcPct val="0"/>
              </a:spcBef>
            </a:pPr>
            <a:r>
              <a:rPr lang="en-US" sz="2100" spc="45">
                <a:solidFill>
                  <a:srgbClr val="FFFFFF"/>
                </a:solidFill>
                <a:latin typeface="Big Shoulders Display"/>
                <a:ea typeface="Big Shoulders Display"/>
                <a:cs typeface="Big Shoulders Display"/>
                <a:sym typeface="Big Shoulders Display"/>
              </a:rPr>
              <a:t>Total Amount: ₹250</a:t>
            </a:r>
          </a:p>
          <a:p>
            <a:pPr algn="ctr">
              <a:lnSpc>
                <a:spcPts val="2940"/>
              </a:lnSpc>
              <a:spcBef>
                <a:spcPct val="0"/>
              </a:spcBef>
            </a:pPr>
            <a:r>
              <a:rPr lang="en-US" sz="2100" spc="45">
                <a:solidFill>
                  <a:srgbClr val="FFFFFF"/>
                </a:solidFill>
                <a:latin typeface="Big Shoulders Display"/>
                <a:ea typeface="Big Shoulders Display"/>
                <a:cs typeface="Big Shoulders Display"/>
                <a:sym typeface="Big Shoulders Display"/>
              </a:rPr>
              <a:t>Tax (5%): ₹12.5</a:t>
            </a:r>
          </a:p>
          <a:p>
            <a:pPr algn="ctr">
              <a:lnSpc>
                <a:spcPts val="2940"/>
              </a:lnSpc>
              <a:spcBef>
                <a:spcPct val="0"/>
              </a:spcBef>
            </a:pPr>
            <a:r>
              <a:rPr lang="en-US" sz="2100" spc="45">
                <a:solidFill>
                  <a:srgbClr val="FFFFFF"/>
                </a:solidFill>
                <a:latin typeface="Big Shoulders Display"/>
                <a:ea typeface="Big Shoulders Display"/>
                <a:cs typeface="Big Shoulders Display"/>
                <a:sym typeface="Big Shoulders Display"/>
              </a:rPr>
              <a:t>Final Bill: ₹262.5</a:t>
            </a:r>
          </a:p>
        </p:txBody>
      </p:sp>
    </p:spTree>
  </p:cSld>
  <p:clrMapOvr>
    <a:masterClrMapping/>
  </p:clrMapOvr>
  <p:transition spd="fast">
    <p:fade/>
  </p:transition>
</p:sld>
</file>

<file path=ppt/slides/slide1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4FBFE">
                <a:alpha val="100000"/>
              </a:srgbClr>
            </a:gs>
            <a:gs pos="74000">
              <a:srgbClr val="99DAF3">
                <a:alpha val="100000"/>
              </a:srgbClr>
            </a:gs>
            <a:gs pos="83000">
              <a:srgbClr val="99DAF3">
                <a:alpha val="100000"/>
              </a:srgbClr>
            </a:gs>
            <a:gs pos="100000">
              <a:srgbClr val="BBE6F7">
                <a:alpha val="100000"/>
              </a:srgbClr>
            </a:gs>
          </a:gsLst>
          <a:lin ang="5400000"/>
        </a:gradFill>
      </p:bgPr>
    </p:bg>
    <p:spTree>
      <p:nvGrpSpPr>
        <p:cNvPr id="1" name=""/>
        <p:cNvGrpSpPr/>
        <p:nvPr/>
      </p:nvGrpSpPr>
      <p:grpSpPr>
        <a:xfrm>
          <a:off x="0" y="0"/>
          <a:ext cx="0" cy="0"/>
          <a:chOff x="0" y="0"/>
          <a:chExt cx="0" cy="0"/>
        </a:xfrm>
      </p:grpSpPr>
      <p:sp>
        <p:nvSpPr>
          <p:cNvPr name="AutoShape 2" id="2"/>
          <p:cNvSpPr/>
          <p:nvPr/>
        </p:nvSpPr>
        <p:spPr>
          <a:xfrm rot="-5328540">
            <a:off x="442398" y="1915849"/>
            <a:ext cx="1401013" cy="0"/>
          </a:xfrm>
          <a:prstGeom prst="line">
            <a:avLst/>
          </a:prstGeom>
          <a:ln cap="rnd" w="19050">
            <a:solidFill>
              <a:srgbClr val="1CADE4"/>
            </a:solidFill>
            <a:prstDash val="solid"/>
            <a:headEnd type="none" len="sm" w="sm"/>
            <a:tailEnd type="none" len="sm" w="sm"/>
          </a:ln>
        </p:spPr>
      </p:sp>
      <p:grpSp>
        <p:nvGrpSpPr>
          <p:cNvPr name="Group 3" id="3"/>
          <p:cNvGrpSpPr/>
          <p:nvPr/>
        </p:nvGrpSpPr>
        <p:grpSpPr>
          <a:xfrm rot="0">
            <a:off x="0" y="0"/>
            <a:ext cx="18287638" cy="10286457"/>
            <a:chOff x="0" y="0"/>
            <a:chExt cx="24383517" cy="13715276"/>
          </a:xfrm>
        </p:grpSpPr>
        <p:sp>
          <p:nvSpPr>
            <p:cNvPr name="Freeform 4" id="4">
              <a:extLst>
                <a:ext uri="{C183D7F6-B498-43B3-948B-1728B52AA6E4}">
                  <adec:decorative xmlns:adec="http://schemas.microsoft.com/office/drawing/2017/decorative" val="1"/>
                </a:ext>
              </a:extLst>
            </p:cNvPr>
            <p:cNvSpPr/>
            <p:nvPr/>
          </p:nvSpPr>
          <p:spPr>
            <a:xfrm flipH="false" flipV="false" rot="0">
              <a:off x="0" y="0"/>
              <a:ext cx="24383492" cy="13715237"/>
            </a:xfrm>
            <a:custGeom>
              <a:avLst/>
              <a:gdLst/>
              <a:ahLst/>
              <a:cxnLst/>
              <a:rect r="r" b="b" t="t" l="l"/>
              <a:pathLst>
                <a:path h="13715237" w="24383492">
                  <a:moveTo>
                    <a:pt x="0" y="0"/>
                  </a:moveTo>
                  <a:lnTo>
                    <a:pt x="24383492" y="0"/>
                  </a:lnTo>
                  <a:lnTo>
                    <a:pt x="24383492" y="13715237"/>
                  </a:lnTo>
                  <a:lnTo>
                    <a:pt x="0" y="13715237"/>
                  </a:lnTo>
                  <a:close/>
                </a:path>
              </a:pathLst>
            </a:custGeom>
            <a:solidFill>
              <a:srgbClr val="000000"/>
            </a:solidFill>
          </p:spPr>
        </p:sp>
      </p:grpSp>
      <p:grpSp>
        <p:nvGrpSpPr>
          <p:cNvPr name="Group 5" id="5"/>
          <p:cNvGrpSpPr/>
          <p:nvPr/>
        </p:nvGrpSpPr>
        <p:grpSpPr>
          <a:xfrm rot="0">
            <a:off x="4057631" y="684182"/>
            <a:ext cx="13421697" cy="8820902"/>
            <a:chOff x="0" y="0"/>
            <a:chExt cx="17895595" cy="11761203"/>
          </a:xfrm>
        </p:grpSpPr>
        <p:sp>
          <p:nvSpPr>
            <p:cNvPr name="Freeform 6" id="6">
              <a:extLst>
                <a:ext uri="{C183D7F6-B498-43B3-948B-1728B52AA6E4}">
                  <adec:decorative xmlns:adec="http://schemas.microsoft.com/office/drawing/2017/decorative" val="1"/>
                </a:ext>
              </a:extLst>
            </p:cNvPr>
            <p:cNvSpPr/>
            <p:nvPr/>
          </p:nvSpPr>
          <p:spPr>
            <a:xfrm flipH="false" flipV="false" rot="0">
              <a:off x="0" y="0"/>
              <a:ext cx="17895570" cy="11761216"/>
            </a:xfrm>
            <a:custGeom>
              <a:avLst/>
              <a:gdLst/>
              <a:ahLst/>
              <a:cxnLst/>
              <a:rect r="r" b="b" t="t" l="l"/>
              <a:pathLst>
                <a:path h="11761216" w="17895570">
                  <a:moveTo>
                    <a:pt x="0" y="0"/>
                  </a:moveTo>
                  <a:lnTo>
                    <a:pt x="17895570" y="0"/>
                  </a:lnTo>
                  <a:lnTo>
                    <a:pt x="17895570" y="11761216"/>
                  </a:lnTo>
                  <a:lnTo>
                    <a:pt x="0" y="11761216"/>
                  </a:lnTo>
                  <a:close/>
                </a:path>
              </a:pathLst>
            </a:custGeom>
            <a:solidFill>
              <a:srgbClr val="404040"/>
            </a:solidFill>
          </p:spPr>
        </p:sp>
      </p:grpSp>
      <p:grpSp>
        <p:nvGrpSpPr>
          <p:cNvPr name="Group 7" id="7"/>
          <p:cNvGrpSpPr/>
          <p:nvPr/>
        </p:nvGrpSpPr>
        <p:grpSpPr>
          <a:xfrm rot="0">
            <a:off x="5203984" y="1182595"/>
            <a:ext cx="11884323" cy="2249100"/>
            <a:chOff x="0" y="0"/>
            <a:chExt cx="15845765" cy="2998800"/>
          </a:xfrm>
        </p:grpSpPr>
        <p:sp>
          <p:nvSpPr>
            <p:cNvPr name="Freeform 8" id="8"/>
            <p:cNvSpPr/>
            <p:nvPr/>
          </p:nvSpPr>
          <p:spPr>
            <a:xfrm flipH="false" flipV="false" rot="0">
              <a:off x="0" y="0"/>
              <a:ext cx="15845760" cy="2998800"/>
            </a:xfrm>
            <a:custGeom>
              <a:avLst/>
              <a:gdLst/>
              <a:ahLst/>
              <a:cxnLst/>
              <a:rect r="r" b="b" t="t" l="l"/>
              <a:pathLst>
                <a:path h="2998800" w="15845760">
                  <a:moveTo>
                    <a:pt x="0" y="0"/>
                  </a:moveTo>
                  <a:lnTo>
                    <a:pt x="15845760" y="0"/>
                  </a:lnTo>
                  <a:lnTo>
                    <a:pt x="15845760" y="2998800"/>
                  </a:lnTo>
                  <a:lnTo>
                    <a:pt x="0" y="2998800"/>
                  </a:lnTo>
                  <a:close/>
                </a:path>
              </a:pathLst>
            </a:custGeom>
            <a:blipFill>
              <a:blip r:embed="rId2">
                <a:alphaModFix amt="0"/>
              </a:blip>
              <a:stretch>
                <a:fillRect l="0" t="-52959" r="0" b="-52959"/>
              </a:stretch>
            </a:blipFill>
          </p:spPr>
        </p:sp>
        <p:sp>
          <p:nvSpPr>
            <p:cNvPr name="TextBox 9" id="9"/>
            <p:cNvSpPr txBox="true"/>
            <p:nvPr/>
          </p:nvSpPr>
          <p:spPr>
            <a:xfrm>
              <a:off x="0" y="152400"/>
              <a:ext cx="15845765" cy="2846400"/>
            </a:xfrm>
            <a:prstGeom prst="rect">
              <a:avLst/>
            </a:prstGeom>
          </p:spPr>
          <p:txBody>
            <a:bodyPr anchor="ctr" rtlCol="false" tIns="0" lIns="0" bIns="0" rIns="0"/>
            <a:lstStyle/>
            <a:p>
              <a:pPr algn="l">
                <a:lnSpc>
                  <a:spcPts val="7200"/>
                </a:lnSpc>
              </a:pPr>
              <a:r>
                <a:rPr lang="en-US" sz="7500" spc="162">
                  <a:solidFill>
                    <a:srgbClr val="FFFFFF"/>
                  </a:solidFill>
                  <a:latin typeface="Big Shoulders Display"/>
                  <a:ea typeface="Big Shoulders Display"/>
                  <a:cs typeface="Big Shoulders Display"/>
                  <a:sym typeface="Big Shoulders Display"/>
                </a:rPr>
                <a:t>Results &amp; Discussion</a:t>
              </a:r>
            </a:p>
          </p:txBody>
        </p:sp>
      </p:grpSp>
      <p:grpSp>
        <p:nvGrpSpPr>
          <p:cNvPr name="Group 10" id="10"/>
          <p:cNvGrpSpPr/>
          <p:nvPr/>
        </p:nvGrpSpPr>
        <p:grpSpPr>
          <a:xfrm rot="0">
            <a:off x="712803" y="726843"/>
            <a:ext cx="3193018" cy="8820902"/>
            <a:chOff x="0" y="0"/>
            <a:chExt cx="4257358" cy="11761203"/>
          </a:xfrm>
        </p:grpSpPr>
        <p:sp>
          <p:nvSpPr>
            <p:cNvPr name="Freeform 11" id="11">
              <a:extLst>
                <a:ext uri="{C183D7F6-B498-43B3-948B-1728B52AA6E4}">
                  <adec:decorative xmlns:adec="http://schemas.microsoft.com/office/drawing/2017/decorative" val="1"/>
                </a:ext>
              </a:extLst>
            </p:cNvPr>
            <p:cNvSpPr/>
            <p:nvPr/>
          </p:nvSpPr>
          <p:spPr>
            <a:xfrm flipH="false" flipV="false" rot="0">
              <a:off x="0" y="0"/>
              <a:ext cx="4257421" cy="11761216"/>
            </a:xfrm>
            <a:custGeom>
              <a:avLst/>
              <a:gdLst/>
              <a:ahLst/>
              <a:cxnLst/>
              <a:rect r="r" b="b" t="t" l="l"/>
              <a:pathLst>
                <a:path h="11761216" w="4257421">
                  <a:moveTo>
                    <a:pt x="0" y="0"/>
                  </a:moveTo>
                  <a:lnTo>
                    <a:pt x="4257421" y="0"/>
                  </a:lnTo>
                  <a:lnTo>
                    <a:pt x="4257421" y="11761216"/>
                  </a:lnTo>
                  <a:lnTo>
                    <a:pt x="0" y="11761216"/>
                  </a:lnTo>
                  <a:close/>
                </a:path>
              </a:pathLst>
            </a:custGeom>
            <a:solidFill>
              <a:srgbClr val="1CADE4"/>
            </a:solidFill>
          </p:spPr>
        </p:sp>
      </p:grpSp>
      <p:sp>
        <p:nvSpPr>
          <p:cNvPr name="TextBox 12" id="12"/>
          <p:cNvSpPr txBox="true"/>
          <p:nvPr/>
        </p:nvSpPr>
        <p:spPr>
          <a:xfrm rot="0">
            <a:off x="5249704" y="3788807"/>
            <a:ext cx="11792883" cy="1479423"/>
          </a:xfrm>
          <a:prstGeom prst="rect">
            <a:avLst/>
          </a:prstGeom>
        </p:spPr>
        <p:txBody>
          <a:bodyPr anchor="t" rtlCol="false" tIns="0" lIns="0" bIns="0" rIns="0">
            <a:spAutoFit/>
          </a:bodyPr>
          <a:lstStyle/>
          <a:p>
            <a:pPr algn="l">
              <a:lnSpc>
                <a:spcPts val="2916"/>
              </a:lnSpc>
            </a:pPr>
            <a:r>
              <a:rPr lang="en-US" sz="2700">
                <a:solidFill>
                  <a:srgbClr val="FFFFFF"/>
                </a:solidFill>
                <a:latin typeface="Arimo"/>
                <a:ea typeface="Arimo"/>
                <a:cs typeface="Arimo"/>
                <a:sym typeface="Arimo"/>
              </a:rPr>
              <a:t>The system successfully processes orders and generates bills.</a:t>
            </a:r>
          </a:p>
          <a:p>
            <a:pPr algn="l">
              <a:lnSpc>
                <a:spcPts val="2916"/>
              </a:lnSpc>
            </a:pPr>
            <a:r>
              <a:rPr lang="en-US" sz="2700">
                <a:solidFill>
                  <a:srgbClr val="FFFFFF"/>
                </a:solidFill>
                <a:latin typeface="Arimo"/>
                <a:ea typeface="Arimo"/>
                <a:cs typeface="Arimo"/>
                <a:sym typeface="Arimo"/>
              </a:rPr>
              <a:t>Accurate calculation of total amount and tax.</a:t>
            </a:r>
          </a:p>
          <a:p>
            <a:pPr algn="l">
              <a:lnSpc>
                <a:spcPts val="2916"/>
              </a:lnSpc>
            </a:pPr>
            <a:r>
              <a:rPr lang="en-US" sz="2700">
                <a:solidFill>
                  <a:srgbClr val="FFFFFF"/>
                </a:solidFill>
                <a:latin typeface="Arimo"/>
                <a:ea typeface="Arimo"/>
                <a:cs typeface="Arimo"/>
                <a:sym typeface="Arimo"/>
              </a:rPr>
              <a:t>Reduces manual errors and saves time.</a:t>
            </a:r>
          </a:p>
          <a:p>
            <a:pPr algn="l">
              <a:lnSpc>
                <a:spcPts val="2916"/>
              </a:lnSpc>
            </a:pPr>
            <a:r>
              <a:rPr lang="en-US" sz="2700">
                <a:solidFill>
                  <a:srgbClr val="FFFFFF"/>
                </a:solidFill>
                <a:latin typeface="Arimo"/>
                <a:ea typeface="Arimo"/>
                <a:cs typeface="Arimo"/>
                <a:sym typeface="Arimo"/>
              </a:rPr>
              <a:t>Easy to use and understand.</a:t>
            </a:r>
          </a:p>
        </p:txBody>
      </p:sp>
      <p:grpSp>
        <p:nvGrpSpPr>
          <p:cNvPr name="Group 13" id="13"/>
          <p:cNvGrpSpPr/>
          <p:nvPr/>
        </p:nvGrpSpPr>
        <p:grpSpPr>
          <a:xfrm rot="0">
            <a:off x="849420" y="982256"/>
            <a:ext cx="2816638" cy="703621"/>
            <a:chOff x="0" y="0"/>
            <a:chExt cx="3755517" cy="938162"/>
          </a:xfrm>
        </p:grpSpPr>
        <p:sp>
          <p:nvSpPr>
            <p:cNvPr name="Freeform 14" id="14" descr="A blue and red logo  AI-generated content may be incorrect."/>
            <p:cNvSpPr/>
            <p:nvPr/>
          </p:nvSpPr>
          <p:spPr>
            <a:xfrm flipH="false" flipV="false" rot="0">
              <a:off x="0" y="0"/>
              <a:ext cx="3755517" cy="938149"/>
            </a:xfrm>
            <a:custGeom>
              <a:avLst/>
              <a:gdLst/>
              <a:ahLst/>
              <a:cxnLst/>
              <a:rect r="r" b="b" t="t" l="l"/>
              <a:pathLst>
                <a:path h="938149" w="3755517">
                  <a:moveTo>
                    <a:pt x="0" y="0"/>
                  </a:moveTo>
                  <a:lnTo>
                    <a:pt x="3755517" y="0"/>
                  </a:lnTo>
                  <a:lnTo>
                    <a:pt x="3755517" y="938149"/>
                  </a:lnTo>
                  <a:lnTo>
                    <a:pt x="0" y="938149"/>
                  </a:lnTo>
                  <a:lnTo>
                    <a:pt x="0" y="0"/>
                  </a:lnTo>
                  <a:close/>
                </a:path>
              </a:pathLst>
            </a:custGeom>
            <a:blipFill>
              <a:blip r:embed="rId3"/>
              <a:stretch>
                <a:fillRect l="0" t="-37" r="0" b="-40"/>
              </a:stretch>
            </a:blipFill>
          </p:spPr>
        </p:sp>
      </p:grpSp>
      <p:grpSp>
        <p:nvGrpSpPr>
          <p:cNvPr name="Group 15" id="15"/>
          <p:cNvGrpSpPr/>
          <p:nvPr/>
        </p:nvGrpSpPr>
        <p:grpSpPr>
          <a:xfrm rot="0">
            <a:off x="849420" y="885063"/>
            <a:ext cx="2816638" cy="8419140"/>
            <a:chOff x="0" y="0"/>
            <a:chExt cx="3755517" cy="11225520"/>
          </a:xfrm>
        </p:grpSpPr>
        <p:sp>
          <p:nvSpPr>
            <p:cNvPr name="Freeform 16" id="16"/>
            <p:cNvSpPr/>
            <p:nvPr/>
          </p:nvSpPr>
          <p:spPr>
            <a:xfrm flipH="false" flipV="false" rot="0">
              <a:off x="0" y="0"/>
              <a:ext cx="3755520" cy="11225523"/>
            </a:xfrm>
            <a:custGeom>
              <a:avLst/>
              <a:gdLst/>
              <a:ahLst/>
              <a:cxnLst/>
              <a:rect r="r" b="b" t="t" l="l"/>
              <a:pathLst>
                <a:path h="11225523" w="3755520">
                  <a:moveTo>
                    <a:pt x="0" y="0"/>
                  </a:moveTo>
                  <a:lnTo>
                    <a:pt x="3755520" y="0"/>
                  </a:lnTo>
                  <a:lnTo>
                    <a:pt x="3755520" y="11225523"/>
                  </a:lnTo>
                  <a:lnTo>
                    <a:pt x="0" y="11225523"/>
                  </a:lnTo>
                  <a:close/>
                </a:path>
              </a:pathLst>
            </a:custGeom>
            <a:blipFill>
              <a:blip r:embed="rId2">
                <a:alphaModFix amt="0"/>
              </a:blip>
              <a:stretch>
                <a:fillRect l="-333508" t="0" r="-333508" b="0"/>
              </a:stretch>
            </a:blipFill>
          </p:spPr>
        </p:sp>
        <p:sp>
          <p:nvSpPr>
            <p:cNvPr name="TextBox 17" id="17"/>
            <p:cNvSpPr txBox="true"/>
            <p:nvPr/>
          </p:nvSpPr>
          <p:spPr>
            <a:xfrm>
              <a:off x="0" y="66675"/>
              <a:ext cx="3755517" cy="11158845"/>
            </a:xfrm>
            <a:prstGeom prst="rect">
              <a:avLst/>
            </a:prstGeom>
          </p:spPr>
          <p:txBody>
            <a:bodyPr anchor="ctr" rtlCol="false" tIns="0" lIns="0" bIns="0" rIns="0"/>
            <a:lstStyle/>
            <a:p>
              <a:pPr algn="l">
                <a:lnSpc>
                  <a:spcPts val="2879"/>
                </a:lnSpc>
              </a:pPr>
              <a:r>
                <a:rPr lang="en-US" sz="3000" spc="154">
                  <a:solidFill>
                    <a:srgbClr val="FFFFFF"/>
                  </a:solidFill>
                  <a:latin typeface="Big Shoulders Display"/>
                  <a:ea typeface="Big Shoulders Display"/>
                  <a:cs typeface="Big Shoulders Display"/>
                  <a:sym typeface="Big Shoulders Display"/>
                </a:rPr>
                <a:t>Java </a:t>
              </a:r>
              <a:r>
                <a:rPr lang="en-US" sz="3000" spc="154">
                  <a:solidFill>
                    <a:srgbClr val="FFFFFF"/>
                  </a:solidFill>
                  <a:latin typeface="Big Shoulders Display"/>
                  <a:ea typeface="Big Shoulders Display"/>
                  <a:cs typeface="Big Shoulders Display"/>
                  <a:sym typeface="Big Shoulders Display"/>
                </a:rPr>
                <a:t>Project Presentation</a:t>
              </a:r>
            </a:p>
          </p:txBody>
        </p:sp>
      </p:grpSp>
    </p:spTree>
  </p:cSld>
  <p:clrMapOvr>
    <a:masterClrMapping/>
  </p:clrMapOvr>
  <p:transition spd="fast">
    <p:fade/>
  </p:transition>
</p:sld>
</file>

<file path=ppt/slides/slide1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4FBFE">
                <a:alpha val="100000"/>
              </a:srgbClr>
            </a:gs>
            <a:gs pos="74000">
              <a:srgbClr val="99DAF3">
                <a:alpha val="100000"/>
              </a:srgbClr>
            </a:gs>
            <a:gs pos="83000">
              <a:srgbClr val="99DAF3">
                <a:alpha val="100000"/>
              </a:srgbClr>
            </a:gs>
            <a:gs pos="100000">
              <a:srgbClr val="BBE6F7">
                <a:alpha val="100000"/>
              </a:srgbClr>
            </a:gs>
          </a:gsLst>
          <a:lin ang="5400000"/>
        </a:gradFill>
      </p:bgPr>
    </p:bg>
    <p:spTree>
      <p:nvGrpSpPr>
        <p:cNvPr id="1" name=""/>
        <p:cNvGrpSpPr/>
        <p:nvPr/>
      </p:nvGrpSpPr>
      <p:grpSpPr>
        <a:xfrm>
          <a:off x="0" y="0"/>
          <a:ext cx="0" cy="0"/>
          <a:chOff x="0" y="0"/>
          <a:chExt cx="0" cy="0"/>
        </a:xfrm>
      </p:grpSpPr>
      <p:sp>
        <p:nvSpPr>
          <p:cNvPr name="AutoShape 2" id="2"/>
          <p:cNvSpPr/>
          <p:nvPr/>
        </p:nvSpPr>
        <p:spPr>
          <a:xfrm rot="-5328540">
            <a:off x="442398" y="1915849"/>
            <a:ext cx="1401013" cy="0"/>
          </a:xfrm>
          <a:prstGeom prst="line">
            <a:avLst/>
          </a:prstGeom>
          <a:ln cap="rnd" w="19050">
            <a:solidFill>
              <a:srgbClr val="1CADE4"/>
            </a:solidFill>
            <a:prstDash val="solid"/>
            <a:headEnd type="none" len="sm" w="sm"/>
            <a:tailEnd type="none" len="sm" w="sm"/>
          </a:ln>
        </p:spPr>
      </p:sp>
      <p:grpSp>
        <p:nvGrpSpPr>
          <p:cNvPr name="Group 3" id="3"/>
          <p:cNvGrpSpPr/>
          <p:nvPr/>
        </p:nvGrpSpPr>
        <p:grpSpPr>
          <a:xfrm rot="0">
            <a:off x="0" y="0"/>
            <a:ext cx="18287638" cy="10286457"/>
            <a:chOff x="0" y="0"/>
            <a:chExt cx="24383517" cy="13715276"/>
          </a:xfrm>
        </p:grpSpPr>
        <p:sp>
          <p:nvSpPr>
            <p:cNvPr name="Freeform 4" id="4">
              <a:extLst>
                <a:ext uri="{C183D7F6-B498-43B3-948B-1728B52AA6E4}">
                  <adec:decorative xmlns:adec="http://schemas.microsoft.com/office/drawing/2017/decorative" val="1"/>
                </a:ext>
              </a:extLst>
            </p:cNvPr>
            <p:cNvSpPr/>
            <p:nvPr/>
          </p:nvSpPr>
          <p:spPr>
            <a:xfrm flipH="false" flipV="false" rot="0">
              <a:off x="0" y="0"/>
              <a:ext cx="24383492" cy="13715237"/>
            </a:xfrm>
            <a:custGeom>
              <a:avLst/>
              <a:gdLst/>
              <a:ahLst/>
              <a:cxnLst/>
              <a:rect r="r" b="b" t="t" l="l"/>
              <a:pathLst>
                <a:path h="13715237" w="24383492">
                  <a:moveTo>
                    <a:pt x="0" y="0"/>
                  </a:moveTo>
                  <a:lnTo>
                    <a:pt x="24383492" y="0"/>
                  </a:lnTo>
                  <a:lnTo>
                    <a:pt x="24383492" y="13715237"/>
                  </a:lnTo>
                  <a:lnTo>
                    <a:pt x="0" y="13715237"/>
                  </a:lnTo>
                  <a:close/>
                </a:path>
              </a:pathLst>
            </a:custGeom>
            <a:solidFill>
              <a:srgbClr val="000000"/>
            </a:solidFill>
          </p:spPr>
        </p:sp>
      </p:grpSp>
      <p:grpSp>
        <p:nvGrpSpPr>
          <p:cNvPr name="Group 5" id="5"/>
          <p:cNvGrpSpPr/>
          <p:nvPr/>
        </p:nvGrpSpPr>
        <p:grpSpPr>
          <a:xfrm rot="0">
            <a:off x="4159082" y="726843"/>
            <a:ext cx="13421697" cy="8820902"/>
            <a:chOff x="0" y="0"/>
            <a:chExt cx="17895595" cy="11761203"/>
          </a:xfrm>
        </p:grpSpPr>
        <p:sp>
          <p:nvSpPr>
            <p:cNvPr name="Freeform 6" id="6">
              <a:extLst>
                <a:ext uri="{C183D7F6-B498-43B3-948B-1728B52AA6E4}">
                  <adec:decorative xmlns:adec="http://schemas.microsoft.com/office/drawing/2017/decorative" val="1"/>
                </a:ext>
              </a:extLst>
            </p:cNvPr>
            <p:cNvSpPr/>
            <p:nvPr/>
          </p:nvSpPr>
          <p:spPr>
            <a:xfrm flipH="false" flipV="false" rot="0">
              <a:off x="0" y="0"/>
              <a:ext cx="17895570" cy="11761216"/>
            </a:xfrm>
            <a:custGeom>
              <a:avLst/>
              <a:gdLst/>
              <a:ahLst/>
              <a:cxnLst/>
              <a:rect r="r" b="b" t="t" l="l"/>
              <a:pathLst>
                <a:path h="11761216" w="17895570">
                  <a:moveTo>
                    <a:pt x="0" y="0"/>
                  </a:moveTo>
                  <a:lnTo>
                    <a:pt x="17895570" y="0"/>
                  </a:lnTo>
                  <a:lnTo>
                    <a:pt x="17895570" y="11761216"/>
                  </a:lnTo>
                  <a:lnTo>
                    <a:pt x="0" y="11761216"/>
                  </a:lnTo>
                  <a:close/>
                </a:path>
              </a:pathLst>
            </a:custGeom>
            <a:solidFill>
              <a:srgbClr val="404040"/>
            </a:solidFill>
          </p:spPr>
        </p:sp>
      </p:grpSp>
      <p:grpSp>
        <p:nvGrpSpPr>
          <p:cNvPr name="Group 7" id="7"/>
          <p:cNvGrpSpPr/>
          <p:nvPr/>
        </p:nvGrpSpPr>
        <p:grpSpPr>
          <a:xfrm rot="0">
            <a:off x="5203984" y="1182595"/>
            <a:ext cx="11884323" cy="2249100"/>
            <a:chOff x="0" y="0"/>
            <a:chExt cx="15845765" cy="2998800"/>
          </a:xfrm>
        </p:grpSpPr>
        <p:sp>
          <p:nvSpPr>
            <p:cNvPr name="Freeform 8" id="8"/>
            <p:cNvSpPr/>
            <p:nvPr/>
          </p:nvSpPr>
          <p:spPr>
            <a:xfrm flipH="false" flipV="false" rot="0">
              <a:off x="0" y="0"/>
              <a:ext cx="15845760" cy="2998800"/>
            </a:xfrm>
            <a:custGeom>
              <a:avLst/>
              <a:gdLst/>
              <a:ahLst/>
              <a:cxnLst/>
              <a:rect r="r" b="b" t="t" l="l"/>
              <a:pathLst>
                <a:path h="2998800" w="15845760">
                  <a:moveTo>
                    <a:pt x="0" y="0"/>
                  </a:moveTo>
                  <a:lnTo>
                    <a:pt x="15845760" y="0"/>
                  </a:lnTo>
                  <a:lnTo>
                    <a:pt x="15845760" y="2998800"/>
                  </a:lnTo>
                  <a:lnTo>
                    <a:pt x="0" y="2998800"/>
                  </a:lnTo>
                  <a:close/>
                </a:path>
              </a:pathLst>
            </a:custGeom>
            <a:blipFill>
              <a:blip r:embed="rId2">
                <a:alphaModFix amt="0"/>
              </a:blip>
              <a:stretch>
                <a:fillRect l="0" t="-52959" r="0" b="-52959"/>
              </a:stretch>
            </a:blipFill>
          </p:spPr>
        </p:sp>
        <p:sp>
          <p:nvSpPr>
            <p:cNvPr name="TextBox 9" id="9"/>
            <p:cNvSpPr txBox="true"/>
            <p:nvPr/>
          </p:nvSpPr>
          <p:spPr>
            <a:xfrm>
              <a:off x="0" y="152400"/>
              <a:ext cx="15845765" cy="2846400"/>
            </a:xfrm>
            <a:prstGeom prst="rect">
              <a:avLst/>
            </a:prstGeom>
          </p:spPr>
          <p:txBody>
            <a:bodyPr anchor="ctr" rtlCol="false" tIns="0" lIns="0" bIns="0" rIns="0"/>
            <a:lstStyle/>
            <a:p>
              <a:pPr algn="l">
                <a:lnSpc>
                  <a:spcPts val="7200"/>
                </a:lnSpc>
              </a:pPr>
              <a:r>
                <a:rPr lang="en-US" sz="7500" spc="162">
                  <a:solidFill>
                    <a:srgbClr val="FFFFFF"/>
                  </a:solidFill>
                  <a:latin typeface="Big Shoulders Display"/>
                  <a:ea typeface="Big Shoulders Display"/>
                  <a:cs typeface="Big Shoulders Display"/>
                  <a:sym typeface="Big Shoulders Display"/>
                </a:rPr>
                <a:t>Conclusion &amp; Future Enhancement</a:t>
              </a:r>
            </a:p>
          </p:txBody>
        </p:sp>
      </p:grpSp>
      <p:grpSp>
        <p:nvGrpSpPr>
          <p:cNvPr name="Group 10" id="10"/>
          <p:cNvGrpSpPr/>
          <p:nvPr/>
        </p:nvGrpSpPr>
        <p:grpSpPr>
          <a:xfrm rot="0">
            <a:off x="712803" y="726843"/>
            <a:ext cx="3193018" cy="8820902"/>
            <a:chOff x="0" y="0"/>
            <a:chExt cx="4257358" cy="11761203"/>
          </a:xfrm>
        </p:grpSpPr>
        <p:sp>
          <p:nvSpPr>
            <p:cNvPr name="Freeform 11" id="11">
              <a:extLst>
                <a:ext uri="{C183D7F6-B498-43B3-948B-1728B52AA6E4}">
                  <adec:decorative xmlns:adec="http://schemas.microsoft.com/office/drawing/2017/decorative" val="1"/>
                </a:ext>
              </a:extLst>
            </p:cNvPr>
            <p:cNvSpPr/>
            <p:nvPr/>
          </p:nvSpPr>
          <p:spPr>
            <a:xfrm flipH="false" flipV="false" rot="0">
              <a:off x="0" y="0"/>
              <a:ext cx="4257421" cy="11761216"/>
            </a:xfrm>
            <a:custGeom>
              <a:avLst/>
              <a:gdLst/>
              <a:ahLst/>
              <a:cxnLst/>
              <a:rect r="r" b="b" t="t" l="l"/>
              <a:pathLst>
                <a:path h="11761216" w="4257421">
                  <a:moveTo>
                    <a:pt x="0" y="0"/>
                  </a:moveTo>
                  <a:lnTo>
                    <a:pt x="4257421" y="0"/>
                  </a:lnTo>
                  <a:lnTo>
                    <a:pt x="4257421" y="11761216"/>
                  </a:lnTo>
                  <a:lnTo>
                    <a:pt x="0" y="11761216"/>
                  </a:lnTo>
                  <a:close/>
                </a:path>
              </a:pathLst>
            </a:custGeom>
            <a:solidFill>
              <a:srgbClr val="1CADE4"/>
            </a:solidFill>
          </p:spPr>
        </p:sp>
      </p:grpSp>
      <p:sp>
        <p:nvSpPr>
          <p:cNvPr name="AutoShape 12" id="12"/>
          <p:cNvSpPr/>
          <p:nvPr/>
        </p:nvSpPr>
        <p:spPr>
          <a:xfrm rot="-5328540">
            <a:off x="4110085" y="2220401"/>
            <a:ext cx="1401013" cy="0"/>
          </a:xfrm>
          <a:prstGeom prst="line">
            <a:avLst/>
          </a:prstGeom>
          <a:ln cap="rnd" w="19050">
            <a:solidFill>
              <a:srgbClr val="1CADE4"/>
            </a:solidFill>
            <a:prstDash val="solid"/>
            <a:headEnd type="none" len="sm" w="sm"/>
            <a:tailEnd type="none" len="sm" w="sm"/>
          </a:ln>
        </p:spPr>
      </p:sp>
      <p:sp>
        <p:nvSpPr>
          <p:cNvPr name="TextBox 13" id="13"/>
          <p:cNvSpPr txBox="true"/>
          <p:nvPr/>
        </p:nvSpPr>
        <p:spPr>
          <a:xfrm rot="0">
            <a:off x="4973488" y="3441221"/>
            <a:ext cx="11792883" cy="3377565"/>
          </a:xfrm>
          <a:prstGeom prst="rect">
            <a:avLst/>
          </a:prstGeom>
        </p:spPr>
        <p:txBody>
          <a:bodyPr anchor="t" rtlCol="false" tIns="0" lIns="0" bIns="0" rIns="0">
            <a:spAutoFit/>
          </a:bodyPr>
          <a:lstStyle/>
          <a:p>
            <a:pPr algn="l">
              <a:lnSpc>
                <a:spcPts val="2430"/>
              </a:lnSpc>
            </a:pPr>
          </a:p>
          <a:p>
            <a:pPr algn="l">
              <a:lnSpc>
                <a:spcPts val="2430"/>
              </a:lnSpc>
            </a:pPr>
            <a:r>
              <a:rPr lang="en-US" sz="2250">
                <a:solidFill>
                  <a:srgbClr val="FFFFFF"/>
                </a:solidFill>
                <a:latin typeface="Arimo"/>
                <a:ea typeface="Arimo"/>
                <a:cs typeface="Arimo"/>
                <a:sym typeface="Arimo"/>
              </a:rPr>
              <a:t>The system effectively helps users plan and track their savings goals. It simplifies financial tracking and promotes better money management habits. This basic system can be further enhanced with features like data storage, multiple goals, and graphical dashboards.</a:t>
            </a:r>
          </a:p>
          <a:p>
            <a:pPr algn="l">
              <a:lnSpc>
                <a:spcPts val="2430"/>
              </a:lnSpc>
            </a:pPr>
          </a:p>
          <a:p>
            <a:pPr algn="l" marL="407194" indent="-203597" lvl="1">
              <a:lnSpc>
                <a:spcPts val="2430"/>
              </a:lnSpc>
            </a:pPr>
          </a:p>
          <a:p>
            <a:pPr algn="l" marL="407194" indent="-203597" lvl="1">
              <a:lnSpc>
                <a:spcPts val="2430"/>
              </a:lnSpc>
              <a:buFont typeface="Arial"/>
              <a:buChar char="•"/>
            </a:pPr>
            <a:r>
              <a:rPr lang="en-US" sz="2250">
                <a:solidFill>
                  <a:srgbClr val="FFFFFF"/>
                </a:solidFill>
                <a:latin typeface="Arimo"/>
                <a:ea typeface="Arimo"/>
                <a:cs typeface="Arimo"/>
                <a:sym typeface="Arimo"/>
              </a:rPr>
              <a:t>Future Enhancements:</a:t>
            </a:r>
          </a:p>
          <a:p>
            <a:pPr algn="l" marL="407194" indent="-203597" lvl="1">
              <a:lnSpc>
                <a:spcPts val="2430"/>
              </a:lnSpc>
              <a:buFont typeface="Arial"/>
              <a:buChar char="•"/>
            </a:pPr>
            <a:r>
              <a:rPr lang="en-US" sz="2250">
                <a:solidFill>
                  <a:srgbClr val="FFFFFF"/>
                </a:solidFill>
                <a:latin typeface="Arimo"/>
                <a:ea typeface="Arimo"/>
                <a:cs typeface="Arimo"/>
                <a:sym typeface="Arimo"/>
              </a:rPr>
              <a:t>• Add GUI support</a:t>
            </a:r>
          </a:p>
          <a:p>
            <a:pPr algn="l" marL="407194" indent="-203597" lvl="1">
              <a:lnSpc>
                <a:spcPts val="2430"/>
              </a:lnSpc>
              <a:buFont typeface="Arial"/>
              <a:buChar char="•"/>
            </a:pPr>
            <a:r>
              <a:rPr lang="en-US" sz="2250">
                <a:solidFill>
                  <a:srgbClr val="FFFFFF"/>
                </a:solidFill>
                <a:latin typeface="Arimo"/>
                <a:ea typeface="Arimo"/>
                <a:cs typeface="Arimo"/>
                <a:sym typeface="Arimo"/>
              </a:rPr>
              <a:t>• Integrate with database</a:t>
            </a:r>
          </a:p>
          <a:p>
            <a:pPr algn="l" marL="407194" indent="-203597" lvl="1">
              <a:lnSpc>
                <a:spcPts val="2430"/>
              </a:lnSpc>
              <a:buFont typeface="Arial"/>
              <a:buChar char="•"/>
            </a:pPr>
            <a:r>
              <a:rPr lang="en-US" sz="2250">
                <a:solidFill>
                  <a:srgbClr val="FFFFFF"/>
                </a:solidFill>
                <a:latin typeface="Arimo"/>
                <a:ea typeface="Arimo"/>
                <a:cs typeface="Arimo"/>
                <a:sym typeface="Arimo"/>
              </a:rPr>
              <a:t>• Extend functionality for scalability</a:t>
            </a:r>
          </a:p>
        </p:txBody>
      </p:sp>
      <p:grpSp>
        <p:nvGrpSpPr>
          <p:cNvPr name="Group 14" id="14"/>
          <p:cNvGrpSpPr/>
          <p:nvPr/>
        </p:nvGrpSpPr>
        <p:grpSpPr>
          <a:xfrm rot="0">
            <a:off x="849420" y="982256"/>
            <a:ext cx="2816638" cy="703621"/>
            <a:chOff x="0" y="0"/>
            <a:chExt cx="3755517" cy="938162"/>
          </a:xfrm>
        </p:grpSpPr>
        <p:sp>
          <p:nvSpPr>
            <p:cNvPr name="Freeform 15" id="15" descr="A blue and red logo  AI-generated content may be incorrect."/>
            <p:cNvSpPr/>
            <p:nvPr/>
          </p:nvSpPr>
          <p:spPr>
            <a:xfrm flipH="false" flipV="false" rot="0">
              <a:off x="0" y="0"/>
              <a:ext cx="3755517" cy="938149"/>
            </a:xfrm>
            <a:custGeom>
              <a:avLst/>
              <a:gdLst/>
              <a:ahLst/>
              <a:cxnLst/>
              <a:rect r="r" b="b" t="t" l="l"/>
              <a:pathLst>
                <a:path h="938149" w="3755517">
                  <a:moveTo>
                    <a:pt x="0" y="0"/>
                  </a:moveTo>
                  <a:lnTo>
                    <a:pt x="3755517" y="0"/>
                  </a:lnTo>
                  <a:lnTo>
                    <a:pt x="3755517" y="938149"/>
                  </a:lnTo>
                  <a:lnTo>
                    <a:pt x="0" y="938149"/>
                  </a:lnTo>
                  <a:lnTo>
                    <a:pt x="0" y="0"/>
                  </a:lnTo>
                  <a:close/>
                </a:path>
              </a:pathLst>
            </a:custGeom>
            <a:blipFill>
              <a:blip r:embed="rId3"/>
              <a:stretch>
                <a:fillRect l="0" t="-37" r="0" b="-40"/>
              </a:stretch>
            </a:blipFill>
          </p:spPr>
        </p:sp>
      </p:grpSp>
      <p:grpSp>
        <p:nvGrpSpPr>
          <p:cNvPr name="Group 16" id="16"/>
          <p:cNvGrpSpPr/>
          <p:nvPr/>
        </p:nvGrpSpPr>
        <p:grpSpPr>
          <a:xfrm rot="0">
            <a:off x="849420" y="885063"/>
            <a:ext cx="2816638" cy="8419140"/>
            <a:chOff x="0" y="0"/>
            <a:chExt cx="3755517" cy="11225520"/>
          </a:xfrm>
        </p:grpSpPr>
        <p:sp>
          <p:nvSpPr>
            <p:cNvPr name="Freeform 17" id="17"/>
            <p:cNvSpPr/>
            <p:nvPr/>
          </p:nvSpPr>
          <p:spPr>
            <a:xfrm flipH="false" flipV="false" rot="0">
              <a:off x="0" y="0"/>
              <a:ext cx="3755520" cy="11225523"/>
            </a:xfrm>
            <a:custGeom>
              <a:avLst/>
              <a:gdLst/>
              <a:ahLst/>
              <a:cxnLst/>
              <a:rect r="r" b="b" t="t" l="l"/>
              <a:pathLst>
                <a:path h="11225523" w="3755520">
                  <a:moveTo>
                    <a:pt x="0" y="0"/>
                  </a:moveTo>
                  <a:lnTo>
                    <a:pt x="3755520" y="0"/>
                  </a:lnTo>
                  <a:lnTo>
                    <a:pt x="3755520" y="11225523"/>
                  </a:lnTo>
                  <a:lnTo>
                    <a:pt x="0" y="11225523"/>
                  </a:lnTo>
                  <a:close/>
                </a:path>
              </a:pathLst>
            </a:custGeom>
            <a:blipFill>
              <a:blip r:embed="rId2">
                <a:alphaModFix amt="0"/>
              </a:blip>
              <a:stretch>
                <a:fillRect l="-333508" t="0" r="-333508" b="0"/>
              </a:stretch>
            </a:blipFill>
          </p:spPr>
        </p:sp>
        <p:sp>
          <p:nvSpPr>
            <p:cNvPr name="TextBox 18" id="18"/>
            <p:cNvSpPr txBox="true"/>
            <p:nvPr/>
          </p:nvSpPr>
          <p:spPr>
            <a:xfrm>
              <a:off x="0" y="66675"/>
              <a:ext cx="3755517" cy="11158845"/>
            </a:xfrm>
            <a:prstGeom prst="rect">
              <a:avLst/>
            </a:prstGeom>
          </p:spPr>
          <p:txBody>
            <a:bodyPr anchor="ctr" rtlCol="false" tIns="0" lIns="0" bIns="0" rIns="0"/>
            <a:lstStyle/>
            <a:p>
              <a:pPr algn="l">
                <a:lnSpc>
                  <a:spcPts val="2879"/>
                </a:lnSpc>
              </a:pPr>
              <a:r>
                <a:rPr lang="en-US" sz="3000" spc="154">
                  <a:solidFill>
                    <a:srgbClr val="FFFFFF"/>
                  </a:solidFill>
                  <a:latin typeface="Big Shoulders Display"/>
                  <a:ea typeface="Big Shoulders Display"/>
                  <a:cs typeface="Big Shoulders Display"/>
                  <a:sym typeface="Big Shoulders Display"/>
                </a:rPr>
                <a:t>Java </a:t>
              </a:r>
              <a:r>
                <a:rPr lang="en-US" sz="3000" spc="154">
                  <a:solidFill>
                    <a:srgbClr val="FFFFFF"/>
                  </a:solidFill>
                  <a:latin typeface="Big Shoulders Display"/>
                  <a:ea typeface="Big Shoulders Display"/>
                  <a:cs typeface="Big Shoulders Display"/>
                  <a:sym typeface="Big Shoulders Display"/>
                </a:rPr>
                <a:t>Project Presentation</a:t>
              </a:r>
            </a:p>
          </p:txBody>
        </p:sp>
      </p:grpSp>
    </p:spTree>
  </p:cSld>
  <p:clrMapOvr>
    <a:masterClrMapping/>
  </p:clrMapOvr>
  <p:transition spd="fast">
    <p:fade/>
  </p:transition>
</p:sld>
</file>

<file path=ppt/slides/slide1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4FBFE">
                <a:alpha val="100000"/>
              </a:srgbClr>
            </a:gs>
            <a:gs pos="74000">
              <a:srgbClr val="99DAF3">
                <a:alpha val="100000"/>
              </a:srgbClr>
            </a:gs>
            <a:gs pos="83000">
              <a:srgbClr val="99DAF3">
                <a:alpha val="100000"/>
              </a:srgbClr>
            </a:gs>
            <a:gs pos="100000">
              <a:srgbClr val="BBE6F7">
                <a:alpha val="100000"/>
              </a:srgbClr>
            </a:gs>
          </a:gsLst>
          <a:lin ang="5400000"/>
        </a:gradFill>
      </p:bgPr>
    </p:bg>
    <p:spTree>
      <p:nvGrpSpPr>
        <p:cNvPr id="1" name=""/>
        <p:cNvGrpSpPr/>
        <p:nvPr/>
      </p:nvGrpSpPr>
      <p:grpSpPr>
        <a:xfrm>
          <a:off x="0" y="0"/>
          <a:ext cx="0" cy="0"/>
          <a:chOff x="0" y="0"/>
          <a:chExt cx="0" cy="0"/>
        </a:xfrm>
      </p:grpSpPr>
      <p:sp>
        <p:nvSpPr>
          <p:cNvPr name="AutoShape 2" id="2"/>
          <p:cNvSpPr/>
          <p:nvPr/>
        </p:nvSpPr>
        <p:spPr>
          <a:xfrm rot="-5328540">
            <a:off x="442398" y="1915849"/>
            <a:ext cx="1401013" cy="0"/>
          </a:xfrm>
          <a:prstGeom prst="line">
            <a:avLst/>
          </a:prstGeom>
          <a:ln cap="rnd" w="19050">
            <a:solidFill>
              <a:srgbClr val="1CADE4"/>
            </a:solidFill>
            <a:prstDash val="solid"/>
            <a:headEnd type="none" len="sm" w="sm"/>
            <a:tailEnd type="none" len="sm" w="sm"/>
          </a:ln>
        </p:spPr>
      </p:sp>
      <p:grpSp>
        <p:nvGrpSpPr>
          <p:cNvPr name="Group 3" id="3"/>
          <p:cNvGrpSpPr/>
          <p:nvPr/>
        </p:nvGrpSpPr>
        <p:grpSpPr>
          <a:xfrm rot="0">
            <a:off x="0" y="0"/>
            <a:ext cx="18287638" cy="10286457"/>
            <a:chOff x="0" y="0"/>
            <a:chExt cx="24383517" cy="13715276"/>
          </a:xfrm>
        </p:grpSpPr>
        <p:sp>
          <p:nvSpPr>
            <p:cNvPr name="Freeform 4" id="4">
              <a:extLst>
                <a:ext uri="{C183D7F6-B498-43B3-948B-1728B52AA6E4}">
                  <adec:decorative xmlns:adec="http://schemas.microsoft.com/office/drawing/2017/decorative" val="1"/>
                </a:ext>
              </a:extLst>
            </p:cNvPr>
            <p:cNvSpPr/>
            <p:nvPr/>
          </p:nvSpPr>
          <p:spPr>
            <a:xfrm flipH="false" flipV="false" rot="0">
              <a:off x="0" y="0"/>
              <a:ext cx="24383492" cy="13715237"/>
            </a:xfrm>
            <a:custGeom>
              <a:avLst/>
              <a:gdLst/>
              <a:ahLst/>
              <a:cxnLst/>
              <a:rect r="r" b="b" t="t" l="l"/>
              <a:pathLst>
                <a:path h="13715237" w="24383492">
                  <a:moveTo>
                    <a:pt x="0" y="0"/>
                  </a:moveTo>
                  <a:lnTo>
                    <a:pt x="24383492" y="0"/>
                  </a:lnTo>
                  <a:lnTo>
                    <a:pt x="24383492" y="13715237"/>
                  </a:lnTo>
                  <a:lnTo>
                    <a:pt x="0" y="13715237"/>
                  </a:lnTo>
                  <a:close/>
                </a:path>
              </a:pathLst>
            </a:custGeom>
            <a:solidFill>
              <a:srgbClr val="000000"/>
            </a:solidFill>
          </p:spPr>
        </p:sp>
      </p:grpSp>
      <p:grpSp>
        <p:nvGrpSpPr>
          <p:cNvPr name="Group 5" id="5"/>
          <p:cNvGrpSpPr/>
          <p:nvPr/>
        </p:nvGrpSpPr>
        <p:grpSpPr>
          <a:xfrm rot="0">
            <a:off x="4159082" y="726843"/>
            <a:ext cx="13421697" cy="8820902"/>
            <a:chOff x="0" y="0"/>
            <a:chExt cx="17895595" cy="11761203"/>
          </a:xfrm>
        </p:grpSpPr>
        <p:sp>
          <p:nvSpPr>
            <p:cNvPr name="Freeform 6" id="6">
              <a:extLst>
                <a:ext uri="{C183D7F6-B498-43B3-948B-1728B52AA6E4}">
                  <adec:decorative xmlns:adec="http://schemas.microsoft.com/office/drawing/2017/decorative" val="1"/>
                </a:ext>
              </a:extLst>
            </p:cNvPr>
            <p:cNvSpPr/>
            <p:nvPr/>
          </p:nvSpPr>
          <p:spPr>
            <a:xfrm flipH="false" flipV="false" rot="0">
              <a:off x="0" y="0"/>
              <a:ext cx="17895570" cy="11761216"/>
            </a:xfrm>
            <a:custGeom>
              <a:avLst/>
              <a:gdLst/>
              <a:ahLst/>
              <a:cxnLst/>
              <a:rect r="r" b="b" t="t" l="l"/>
              <a:pathLst>
                <a:path h="11761216" w="17895570">
                  <a:moveTo>
                    <a:pt x="0" y="0"/>
                  </a:moveTo>
                  <a:lnTo>
                    <a:pt x="17895570" y="0"/>
                  </a:lnTo>
                  <a:lnTo>
                    <a:pt x="17895570" y="11761216"/>
                  </a:lnTo>
                  <a:lnTo>
                    <a:pt x="0" y="11761216"/>
                  </a:lnTo>
                  <a:close/>
                </a:path>
              </a:pathLst>
            </a:custGeom>
            <a:solidFill>
              <a:srgbClr val="404040"/>
            </a:solidFill>
          </p:spPr>
        </p:sp>
      </p:grpSp>
      <p:grpSp>
        <p:nvGrpSpPr>
          <p:cNvPr name="Group 7" id="7"/>
          <p:cNvGrpSpPr/>
          <p:nvPr/>
        </p:nvGrpSpPr>
        <p:grpSpPr>
          <a:xfrm rot="0">
            <a:off x="5203984" y="1182595"/>
            <a:ext cx="11884323" cy="2249100"/>
            <a:chOff x="0" y="0"/>
            <a:chExt cx="15845765" cy="2998800"/>
          </a:xfrm>
        </p:grpSpPr>
        <p:sp>
          <p:nvSpPr>
            <p:cNvPr name="Freeform 8" id="8"/>
            <p:cNvSpPr/>
            <p:nvPr/>
          </p:nvSpPr>
          <p:spPr>
            <a:xfrm flipH="false" flipV="false" rot="0">
              <a:off x="0" y="0"/>
              <a:ext cx="15845760" cy="2998800"/>
            </a:xfrm>
            <a:custGeom>
              <a:avLst/>
              <a:gdLst/>
              <a:ahLst/>
              <a:cxnLst/>
              <a:rect r="r" b="b" t="t" l="l"/>
              <a:pathLst>
                <a:path h="2998800" w="15845760">
                  <a:moveTo>
                    <a:pt x="0" y="0"/>
                  </a:moveTo>
                  <a:lnTo>
                    <a:pt x="15845760" y="0"/>
                  </a:lnTo>
                  <a:lnTo>
                    <a:pt x="15845760" y="2998800"/>
                  </a:lnTo>
                  <a:lnTo>
                    <a:pt x="0" y="2998800"/>
                  </a:lnTo>
                  <a:close/>
                </a:path>
              </a:pathLst>
            </a:custGeom>
            <a:blipFill>
              <a:blip r:embed="rId2">
                <a:alphaModFix amt="0"/>
              </a:blip>
              <a:stretch>
                <a:fillRect l="0" t="-52959" r="0" b="-52959"/>
              </a:stretch>
            </a:blipFill>
          </p:spPr>
        </p:sp>
        <p:sp>
          <p:nvSpPr>
            <p:cNvPr name="TextBox 9" id="9"/>
            <p:cNvSpPr txBox="true"/>
            <p:nvPr/>
          </p:nvSpPr>
          <p:spPr>
            <a:xfrm>
              <a:off x="0" y="152400"/>
              <a:ext cx="15845765" cy="2846400"/>
            </a:xfrm>
            <a:prstGeom prst="rect">
              <a:avLst/>
            </a:prstGeom>
          </p:spPr>
          <p:txBody>
            <a:bodyPr anchor="ctr" rtlCol="false" tIns="0" lIns="0" bIns="0" rIns="0"/>
            <a:lstStyle/>
            <a:p>
              <a:pPr algn="l">
                <a:lnSpc>
                  <a:spcPts val="7200"/>
                </a:lnSpc>
              </a:pPr>
              <a:r>
                <a:rPr lang="en-US" sz="7500" spc="162">
                  <a:solidFill>
                    <a:srgbClr val="FFFFFF"/>
                  </a:solidFill>
                  <a:latin typeface="Big Shoulders Display"/>
                  <a:ea typeface="Big Shoulders Display"/>
                  <a:cs typeface="Big Shoulders Display"/>
                  <a:sym typeface="Big Shoulders Display"/>
                </a:rPr>
                <a:t>References / Acknowledgement</a:t>
              </a:r>
            </a:p>
          </p:txBody>
        </p:sp>
      </p:grpSp>
      <p:grpSp>
        <p:nvGrpSpPr>
          <p:cNvPr name="Group 10" id="10"/>
          <p:cNvGrpSpPr/>
          <p:nvPr/>
        </p:nvGrpSpPr>
        <p:grpSpPr>
          <a:xfrm rot="0">
            <a:off x="712803" y="726843"/>
            <a:ext cx="3193018" cy="8820902"/>
            <a:chOff x="0" y="0"/>
            <a:chExt cx="4257358" cy="11761203"/>
          </a:xfrm>
        </p:grpSpPr>
        <p:sp>
          <p:nvSpPr>
            <p:cNvPr name="Freeform 11" id="11">
              <a:extLst>
                <a:ext uri="{C183D7F6-B498-43B3-948B-1728B52AA6E4}">
                  <adec:decorative xmlns:adec="http://schemas.microsoft.com/office/drawing/2017/decorative" val="1"/>
                </a:ext>
              </a:extLst>
            </p:cNvPr>
            <p:cNvSpPr/>
            <p:nvPr/>
          </p:nvSpPr>
          <p:spPr>
            <a:xfrm flipH="false" flipV="false" rot="0">
              <a:off x="0" y="0"/>
              <a:ext cx="4257421" cy="11761216"/>
            </a:xfrm>
            <a:custGeom>
              <a:avLst/>
              <a:gdLst/>
              <a:ahLst/>
              <a:cxnLst/>
              <a:rect r="r" b="b" t="t" l="l"/>
              <a:pathLst>
                <a:path h="11761216" w="4257421">
                  <a:moveTo>
                    <a:pt x="0" y="0"/>
                  </a:moveTo>
                  <a:lnTo>
                    <a:pt x="4257421" y="0"/>
                  </a:lnTo>
                  <a:lnTo>
                    <a:pt x="4257421" y="11761216"/>
                  </a:lnTo>
                  <a:lnTo>
                    <a:pt x="0" y="11761216"/>
                  </a:lnTo>
                  <a:close/>
                </a:path>
              </a:pathLst>
            </a:custGeom>
            <a:solidFill>
              <a:srgbClr val="1CADE4"/>
            </a:solidFill>
          </p:spPr>
        </p:sp>
      </p:grpSp>
      <p:sp>
        <p:nvSpPr>
          <p:cNvPr name="AutoShape 12" id="12"/>
          <p:cNvSpPr/>
          <p:nvPr/>
        </p:nvSpPr>
        <p:spPr>
          <a:xfrm rot="-5328540">
            <a:off x="4110085" y="2220401"/>
            <a:ext cx="1401013" cy="0"/>
          </a:xfrm>
          <a:prstGeom prst="line">
            <a:avLst/>
          </a:prstGeom>
          <a:ln cap="rnd" w="19050">
            <a:solidFill>
              <a:srgbClr val="1CADE4"/>
            </a:solidFill>
            <a:prstDash val="solid"/>
            <a:headEnd type="none" len="sm" w="sm"/>
            <a:tailEnd type="none" len="sm" w="sm"/>
          </a:ln>
        </p:spPr>
      </p:sp>
      <p:sp>
        <p:nvSpPr>
          <p:cNvPr name="TextBox 13" id="13"/>
          <p:cNvSpPr txBox="true"/>
          <p:nvPr/>
        </p:nvSpPr>
        <p:spPr>
          <a:xfrm rot="0">
            <a:off x="4973488" y="3301844"/>
            <a:ext cx="11792883" cy="5098923"/>
          </a:xfrm>
          <a:prstGeom prst="rect">
            <a:avLst/>
          </a:prstGeom>
        </p:spPr>
        <p:txBody>
          <a:bodyPr anchor="t" rtlCol="false" tIns="0" lIns="0" bIns="0" rIns="0">
            <a:spAutoFit/>
          </a:bodyPr>
          <a:lstStyle/>
          <a:p>
            <a:pPr algn="l" marL="582930" indent="-291465" lvl="1">
              <a:lnSpc>
                <a:spcPts val="2916"/>
              </a:lnSpc>
              <a:buAutoNum type="arabicPeriod" startAt="1"/>
            </a:pPr>
            <a:r>
              <a:rPr lang="en-US" sz="2700">
                <a:solidFill>
                  <a:srgbClr val="FFFFFF"/>
                </a:solidFill>
                <a:latin typeface="Arimo"/>
                <a:ea typeface="Arimo"/>
                <a:cs typeface="Arimo"/>
                <a:sym typeface="Arimo"/>
              </a:rPr>
              <a:t>Java: The Complete Reference – For understanding Java programming concepts.</a:t>
            </a:r>
          </a:p>
          <a:p>
            <a:pPr algn="l" marL="582930" indent="-291465" lvl="1">
              <a:lnSpc>
                <a:spcPts val="2916"/>
              </a:lnSpc>
              <a:buAutoNum type="arabicPeriod" startAt="1"/>
            </a:pPr>
            <a:r>
              <a:rPr lang="en-US" sz="2700">
                <a:solidFill>
                  <a:srgbClr val="FFFFFF"/>
                </a:solidFill>
                <a:latin typeface="Arimo"/>
                <a:ea typeface="Arimo"/>
                <a:cs typeface="Arimo"/>
                <a:sym typeface="Arimo"/>
              </a:rPr>
              <a:t>Head First Java – For beginner-friendly Java learning.</a:t>
            </a:r>
          </a:p>
          <a:p>
            <a:pPr algn="l" marL="582930" indent="-291465" lvl="1">
              <a:lnSpc>
                <a:spcPts val="2916"/>
              </a:lnSpc>
              <a:buAutoNum type="arabicPeriod" startAt="1"/>
            </a:pPr>
            <a:r>
              <a:rPr lang="en-US" sz="2700">
                <a:solidFill>
                  <a:srgbClr val="FFFFFF"/>
                </a:solidFill>
                <a:latin typeface="Arimo"/>
                <a:ea typeface="Arimo"/>
                <a:cs typeface="Arimo"/>
                <a:sym typeface="Arimo"/>
              </a:rPr>
              <a:t>Oracle Java Documentation</a:t>
            </a:r>
          </a:p>
          <a:p>
            <a:pPr algn="l" marL="582930" indent="-291465" lvl="1">
              <a:lnSpc>
                <a:spcPts val="2916"/>
              </a:lnSpc>
              <a:buAutoNum type="arabicPeriod" startAt="1"/>
            </a:pPr>
            <a:r>
              <a:rPr lang="en-US" sz="2700" u="sng">
                <a:solidFill>
                  <a:srgbClr val="FFFFFF"/>
                </a:solidFill>
                <a:latin typeface="Arimo"/>
                <a:ea typeface="Arimo"/>
                <a:cs typeface="Arimo"/>
                <a:sym typeface="Arimo"/>
                <a:hlinkClick r:id="rId3" tooltip="https://docs.oracle.com/javase/8/docs/"/>
              </a:rPr>
              <a:t>https://docs.oracle.com/javase/8/docs/</a:t>
            </a:r>
            <a:r>
              <a:rPr lang="en-US" sz="2700">
                <a:solidFill>
                  <a:srgbClr val="FFFFFF"/>
                </a:solidFill>
                <a:latin typeface="Arimo"/>
                <a:ea typeface="Arimo"/>
                <a:cs typeface="Arimo"/>
                <a:sym typeface="Arimo"/>
              </a:rPr>
              <a:t> – Official Java documentation for syntax and APIs.</a:t>
            </a:r>
          </a:p>
          <a:p>
            <a:pPr algn="l" marL="582930" indent="-291465" lvl="1">
              <a:lnSpc>
                <a:spcPts val="2916"/>
              </a:lnSpc>
              <a:buAutoNum type="arabicPeriod" startAt="1"/>
            </a:pPr>
            <a:r>
              <a:rPr lang="en-US" sz="2700">
                <a:solidFill>
                  <a:srgbClr val="FFFFFF"/>
                </a:solidFill>
                <a:latin typeface="Arimo"/>
                <a:ea typeface="Arimo"/>
                <a:cs typeface="Arimo"/>
                <a:sym typeface="Arimo"/>
              </a:rPr>
              <a:t>GeeksforGeeks</a:t>
            </a:r>
          </a:p>
          <a:p>
            <a:pPr algn="l" marL="582930" indent="-291465" lvl="1">
              <a:lnSpc>
                <a:spcPts val="2916"/>
              </a:lnSpc>
              <a:buAutoNum type="arabicPeriod" startAt="1"/>
            </a:pPr>
            <a:r>
              <a:rPr lang="en-US" sz="2700" u="sng">
                <a:solidFill>
                  <a:srgbClr val="FFFFFF"/>
                </a:solidFill>
                <a:latin typeface="Arimo"/>
                <a:ea typeface="Arimo"/>
                <a:cs typeface="Arimo"/>
                <a:sym typeface="Arimo"/>
                <a:hlinkClick r:id="rId4" tooltip="https://www.geeksforgeeks.org/java/"/>
              </a:rPr>
              <a:t>https://www.geeksforgeeks.org/java/</a:t>
            </a:r>
            <a:r>
              <a:rPr lang="en-US" sz="2700">
                <a:solidFill>
                  <a:srgbClr val="FFFFFF"/>
                </a:solidFill>
                <a:latin typeface="Arimo"/>
                <a:ea typeface="Arimo"/>
                <a:cs typeface="Arimo"/>
                <a:sym typeface="Arimo"/>
              </a:rPr>
              <a:t> – Tutorials and examples on Java programming.</a:t>
            </a:r>
          </a:p>
          <a:p>
            <a:pPr algn="l" marL="582930" indent="-291465" lvl="1">
              <a:lnSpc>
                <a:spcPts val="2916"/>
              </a:lnSpc>
              <a:buAutoNum type="arabicPeriod" startAt="1"/>
            </a:pPr>
            <a:r>
              <a:rPr lang="en-US" sz="2700">
                <a:solidFill>
                  <a:srgbClr val="FFFFFF"/>
                </a:solidFill>
                <a:latin typeface="Arimo"/>
                <a:ea typeface="Arimo"/>
                <a:cs typeface="Arimo"/>
                <a:sym typeface="Arimo"/>
              </a:rPr>
              <a:t>W3Schools Java Tutorial</a:t>
            </a:r>
          </a:p>
          <a:p>
            <a:pPr algn="l" marL="582930" indent="-291465" lvl="1">
              <a:lnSpc>
                <a:spcPts val="2916"/>
              </a:lnSpc>
              <a:buAutoNum type="arabicPeriod" startAt="1"/>
            </a:pPr>
            <a:r>
              <a:rPr lang="en-US" sz="2700" u="sng">
                <a:solidFill>
                  <a:srgbClr val="FFFFFF"/>
                </a:solidFill>
                <a:latin typeface="Arimo"/>
                <a:ea typeface="Arimo"/>
                <a:cs typeface="Arimo"/>
                <a:sym typeface="Arimo"/>
                <a:hlinkClick r:id="rId5" tooltip="https://www.w3schools.com/java/"/>
              </a:rPr>
              <a:t>https://www.w3schools.com/java/</a:t>
            </a:r>
            <a:r>
              <a:rPr lang="en-US" sz="2700">
                <a:solidFill>
                  <a:srgbClr val="FFFFFF"/>
                </a:solidFill>
                <a:latin typeface="Arimo"/>
                <a:ea typeface="Arimo"/>
                <a:cs typeface="Arimo"/>
                <a:sym typeface="Arimo"/>
              </a:rPr>
              <a:t> – Basic Java concepts and examples.</a:t>
            </a:r>
          </a:p>
          <a:p>
            <a:pPr algn="l" marL="582930" indent="-291465" lvl="1">
              <a:lnSpc>
                <a:spcPts val="2916"/>
              </a:lnSpc>
              <a:buAutoNum type="arabicPeriod" startAt="1"/>
            </a:pPr>
            <a:r>
              <a:rPr lang="en-US" sz="2700">
                <a:solidFill>
                  <a:srgbClr val="FFFFFF"/>
                </a:solidFill>
                <a:latin typeface="Arimo"/>
                <a:ea typeface="Arimo"/>
                <a:cs typeface="Arimo"/>
                <a:sym typeface="Arimo"/>
              </a:rPr>
              <a:t>Personal Finance Management – General principles of saving and budgeting.</a:t>
            </a:r>
          </a:p>
          <a:p>
            <a:pPr algn="l" marL="582930" indent="-291465" lvl="1">
              <a:lnSpc>
                <a:spcPts val="2916"/>
              </a:lnSpc>
              <a:buAutoNum type="arabicPeriod" startAt="1"/>
            </a:pPr>
          </a:p>
        </p:txBody>
      </p:sp>
      <p:grpSp>
        <p:nvGrpSpPr>
          <p:cNvPr name="Group 14" id="14"/>
          <p:cNvGrpSpPr/>
          <p:nvPr/>
        </p:nvGrpSpPr>
        <p:grpSpPr>
          <a:xfrm rot="0">
            <a:off x="849420" y="982256"/>
            <a:ext cx="2816638" cy="703621"/>
            <a:chOff x="0" y="0"/>
            <a:chExt cx="3755517" cy="938162"/>
          </a:xfrm>
        </p:grpSpPr>
        <p:sp>
          <p:nvSpPr>
            <p:cNvPr name="Freeform 15" id="15" descr="A blue and red logo  AI-generated content may be incorrect."/>
            <p:cNvSpPr/>
            <p:nvPr/>
          </p:nvSpPr>
          <p:spPr>
            <a:xfrm flipH="false" flipV="false" rot="0">
              <a:off x="0" y="0"/>
              <a:ext cx="3755517" cy="938149"/>
            </a:xfrm>
            <a:custGeom>
              <a:avLst/>
              <a:gdLst/>
              <a:ahLst/>
              <a:cxnLst/>
              <a:rect r="r" b="b" t="t" l="l"/>
              <a:pathLst>
                <a:path h="938149" w="3755517">
                  <a:moveTo>
                    <a:pt x="0" y="0"/>
                  </a:moveTo>
                  <a:lnTo>
                    <a:pt x="3755517" y="0"/>
                  </a:lnTo>
                  <a:lnTo>
                    <a:pt x="3755517" y="938149"/>
                  </a:lnTo>
                  <a:lnTo>
                    <a:pt x="0" y="938149"/>
                  </a:lnTo>
                  <a:lnTo>
                    <a:pt x="0" y="0"/>
                  </a:lnTo>
                  <a:close/>
                </a:path>
              </a:pathLst>
            </a:custGeom>
            <a:blipFill>
              <a:blip r:embed="rId6"/>
              <a:stretch>
                <a:fillRect l="0" t="-37" r="0" b="-40"/>
              </a:stretch>
            </a:blipFill>
          </p:spPr>
        </p:sp>
      </p:grpSp>
      <p:grpSp>
        <p:nvGrpSpPr>
          <p:cNvPr name="Group 16" id="16"/>
          <p:cNvGrpSpPr/>
          <p:nvPr/>
        </p:nvGrpSpPr>
        <p:grpSpPr>
          <a:xfrm rot="0">
            <a:off x="849420" y="885063"/>
            <a:ext cx="2816638" cy="8419140"/>
            <a:chOff x="0" y="0"/>
            <a:chExt cx="3755517" cy="11225520"/>
          </a:xfrm>
        </p:grpSpPr>
        <p:sp>
          <p:nvSpPr>
            <p:cNvPr name="Freeform 17" id="17"/>
            <p:cNvSpPr/>
            <p:nvPr/>
          </p:nvSpPr>
          <p:spPr>
            <a:xfrm flipH="false" flipV="false" rot="0">
              <a:off x="0" y="0"/>
              <a:ext cx="3755520" cy="11225523"/>
            </a:xfrm>
            <a:custGeom>
              <a:avLst/>
              <a:gdLst/>
              <a:ahLst/>
              <a:cxnLst/>
              <a:rect r="r" b="b" t="t" l="l"/>
              <a:pathLst>
                <a:path h="11225523" w="3755520">
                  <a:moveTo>
                    <a:pt x="0" y="0"/>
                  </a:moveTo>
                  <a:lnTo>
                    <a:pt x="3755520" y="0"/>
                  </a:lnTo>
                  <a:lnTo>
                    <a:pt x="3755520" y="11225523"/>
                  </a:lnTo>
                  <a:lnTo>
                    <a:pt x="0" y="11225523"/>
                  </a:lnTo>
                  <a:close/>
                </a:path>
              </a:pathLst>
            </a:custGeom>
            <a:blipFill>
              <a:blip r:embed="rId2">
                <a:alphaModFix amt="0"/>
              </a:blip>
              <a:stretch>
                <a:fillRect l="-333508" t="0" r="-333508" b="0"/>
              </a:stretch>
            </a:blipFill>
          </p:spPr>
        </p:sp>
        <p:sp>
          <p:nvSpPr>
            <p:cNvPr name="TextBox 18" id="18"/>
            <p:cNvSpPr txBox="true"/>
            <p:nvPr/>
          </p:nvSpPr>
          <p:spPr>
            <a:xfrm>
              <a:off x="0" y="66675"/>
              <a:ext cx="3755517" cy="11158845"/>
            </a:xfrm>
            <a:prstGeom prst="rect">
              <a:avLst/>
            </a:prstGeom>
          </p:spPr>
          <p:txBody>
            <a:bodyPr anchor="ctr" rtlCol="false" tIns="0" lIns="0" bIns="0" rIns="0"/>
            <a:lstStyle/>
            <a:p>
              <a:pPr algn="l">
                <a:lnSpc>
                  <a:spcPts val="2879"/>
                </a:lnSpc>
              </a:pPr>
              <a:r>
                <a:rPr lang="en-US" sz="3000" spc="154">
                  <a:solidFill>
                    <a:srgbClr val="FFFFFF"/>
                  </a:solidFill>
                  <a:latin typeface="Big Shoulders Display"/>
                  <a:ea typeface="Big Shoulders Display"/>
                  <a:cs typeface="Big Shoulders Display"/>
                  <a:sym typeface="Big Shoulders Display"/>
                </a:rPr>
                <a:t>Java </a:t>
              </a:r>
              <a:r>
                <a:rPr lang="en-US" sz="3000" spc="154">
                  <a:solidFill>
                    <a:srgbClr val="FFFFFF"/>
                  </a:solidFill>
                  <a:latin typeface="Big Shoulders Display"/>
                  <a:ea typeface="Big Shoulders Display"/>
                  <a:cs typeface="Big Shoulders Display"/>
                  <a:sym typeface="Big Shoulders Display"/>
                </a:rPr>
                <a:t>Project Presentation</a:t>
              </a:r>
            </a:p>
          </p:txBody>
        </p:sp>
      </p:grpSp>
    </p:spTree>
  </p:cSld>
  <p:clrMapOvr>
    <a:masterClrMapping/>
  </p:clrMapOvr>
  <p:transition spd="fast">
    <p:fade/>
  </p:transition>
</p:sld>
</file>

<file path=ppt/slides/slide14.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4FBFE">
                <a:alpha val="100000"/>
              </a:srgbClr>
            </a:gs>
            <a:gs pos="74000">
              <a:srgbClr val="99DAF3">
                <a:alpha val="100000"/>
              </a:srgbClr>
            </a:gs>
            <a:gs pos="83000">
              <a:srgbClr val="99DAF3">
                <a:alpha val="100000"/>
              </a:srgbClr>
            </a:gs>
            <a:gs pos="100000">
              <a:srgbClr val="BBE6F7">
                <a:alpha val="100000"/>
              </a:srgbClr>
            </a:gs>
          </a:gsLst>
          <a:lin ang="5400000"/>
        </a:gradFill>
      </p:bgPr>
    </p:bg>
    <p:spTree>
      <p:nvGrpSpPr>
        <p:cNvPr id="1" name=""/>
        <p:cNvGrpSpPr/>
        <p:nvPr/>
      </p:nvGrpSpPr>
      <p:grpSpPr>
        <a:xfrm>
          <a:off x="0" y="0"/>
          <a:ext cx="0" cy="0"/>
          <a:chOff x="0" y="0"/>
          <a:chExt cx="0" cy="0"/>
        </a:xfrm>
      </p:grpSpPr>
      <p:sp>
        <p:nvSpPr>
          <p:cNvPr name="AutoShape 2" id="2"/>
          <p:cNvSpPr/>
          <p:nvPr/>
        </p:nvSpPr>
        <p:spPr>
          <a:xfrm rot="-5328540">
            <a:off x="442398" y="1915849"/>
            <a:ext cx="1401013" cy="0"/>
          </a:xfrm>
          <a:prstGeom prst="line">
            <a:avLst/>
          </a:prstGeom>
          <a:ln cap="rnd" w="19050">
            <a:solidFill>
              <a:srgbClr val="1CADE4"/>
            </a:solidFill>
            <a:prstDash val="solid"/>
            <a:headEnd type="none" len="sm" w="sm"/>
            <a:tailEnd type="none" len="sm" w="sm"/>
          </a:ln>
        </p:spPr>
      </p:sp>
      <p:grpSp>
        <p:nvGrpSpPr>
          <p:cNvPr name="Group 3" id="3"/>
          <p:cNvGrpSpPr/>
          <p:nvPr/>
        </p:nvGrpSpPr>
        <p:grpSpPr>
          <a:xfrm rot="0">
            <a:off x="0" y="0"/>
            <a:ext cx="18287638" cy="10286457"/>
            <a:chOff x="0" y="0"/>
            <a:chExt cx="24383517" cy="13715276"/>
          </a:xfrm>
        </p:grpSpPr>
        <p:sp>
          <p:nvSpPr>
            <p:cNvPr name="Freeform 4" id="4">
              <a:extLst>
                <a:ext uri="{C183D7F6-B498-43B3-948B-1728B52AA6E4}">
                  <adec:decorative xmlns:adec="http://schemas.microsoft.com/office/drawing/2017/decorative" val="1"/>
                </a:ext>
              </a:extLst>
            </p:cNvPr>
            <p:cNvSpPr/>
            <p:nvPr/>
          </p:nvSpPr>
          <p:spPr>
            <a:xfrm flipH="false" flipV="false" rot="0">
              <a:off x="0" y="0"/>
              <a:ext cx="24383492" cy="13715237"/>
            </a:xfrm>
            <a:custGeom>
              <a:avLst/>
              <a:gdLst/>
              <a:ahLst/>
              <a:cxnLst/>
              <a:rect r="r" b="b" t="t" l="l"/>
              <a:pathLst>
                <a:path h="13715237" w="24383492">
                  <a:moveTo>
                    <a:pt x="0" y="0"/>
                  </a:moveTo>
                  <a:lnTo>
                    <a:pt x="24383492" y="0"/>
                  </a:lnTo>
                  <a:lnTo>
                    <a:pt x="24383492" y="13715237"/>
                  </a:lnTo>
                  <a:lnTo>
                    <a:pt x="0" y="13715237"/>
                  </a:lnTo>
                  <a:close/>
                </a:path>
              </a:pathLst>
            </a:custGeom>
            <a:solidFill>
              <a:srgbClr val="000000"/>
            </a:solidFill>
          </p:spPr>
        </p:sp>
      </p:grpSp>
      <p:grpSp>
        <p:nvGrpSpPr>
          <p:cNvPr name="Group 5" id="5"/>
          <p:cNvGrpSpPr/>
          <p:nvPr/>
        </p:nvGrpSpPr>
        <p:grpSpPr>
          <a:xfrm rot="0">
            <a:off x="491404" y="482756"/>
            <a:ext cx="17326442" cy="9321479"/>
            <a:chOff x="0" y="0"/>
            <a:chExt cx="23101922" cy="12428639"/>
          </a:xfrm>
        </p:grpSpPr>
        <p:sp>
          <p:nvSpPr>
            <p:cNvPr name="Freeform 6" id="6">
              <a:extLst>
                <a:ext uri="{C183D7F6-B498-43B3-948B-1728B52AA6E4}">
                  <adec:decorative xmlns:adec="http://schemas.microsoft.com/office/drawing/2017/decorative" val="1"/>
                </a:ext>
              </a:extLst>
            </p:cNvPr>
            <p:cNvSpPr/>
            <p:nvPr/>
          </p:nvSpPr>
          <p:spPr>
            <a:xfrm flipH="false" flipV="false" rot="0">
              <a:off x="0" y="0"/>
              <a:ext cx="23101936" cy="12428601"/>
            </a:xfrm>
            <a:custGeom>
              <a:avLst/>
              <a:gdLst/>
              <a:ahLst/>
              <a:cxnLst/>
              <a:rect r="r" b="b" t="t" l="l"/>
              <a:pathLst>
                <a:path h="12428601" w="23101936">
                  <a:moveTo>
                    <a:pt x="0" y="0"/>
                  </a:moveTo>
                  <a:lnTo>
                    <a:pt x="23101936" y="0"/>
                  </a:lnTo>
                  <a:lnTo>
                    <a:pt x="23101936" y="12428601"/>
                  </a:lnTo>
                  <a:lnTo>
                    <a:pt x="0" y="12428601"/>
                  </a:lnTo>
                  <a:close/>
                </a:path>
              </a:pathLst>
            </a:custGeom>
            <a:solidFill>
              <a:srgbClr val="1CADE4"/>
            </a:solidFill>
          </p:spPr>
        </p:sp>
      </p:grpSp>
      <p:grpSp>
        <p:nvGrpSpPr>
          <p:cNvPr name="Group 7" id="7"/>
          <p:cNvGrpSpPr/>
          <p:nvPr/>
        </p:nvGrpSpPr>
        <p:grpSpPr>
          <a:xfrm rot="0">
            <a:off x="1536297" y="878043"/>
            <a:ext cx="15494222" cy="2249100"/>
            <a:chOff x="0" y="0"/>
            <a:chExt cx="20658963" cy="2998800"/>
          </a:xfrm>
        </p:grpSpPr>
        <p:sp>
          <p:nvSpPr>
            <p:cNvPr name="Freeform 8" id="8"/>
            <p:cNvSpPr/>
            <p:nvPr/>
          </p:nvSpPr>
          <p:spPr>
            <a:xfrm flipH="false" flipV="false" rot="0">
              <a:off x="0" y="0"/>
              <a:ext cx="20658961" cy="2998800"/>
            </a:xfrm>
            <a:custGeom>
              <a:avLst/>
              <a:gdLst/>
              <a:ahLst/>
              <a:cxnLst/>
              <a:rect r="r" b="b" t="t" l="l"/>
              <a:pathLst>
                <a:path h="2998800" w="20658961">
                  <a:moveTo>
                    <a:pt x="0" y="0"/>
                  </a:moveTo>
                  <a:lnTo>
                    <a:pt x="20658961" y="0"/>
                  </a:lnTo>
                  <a:lnTo>
                    <a:pt x="20658961" y="2998800"/>
                  </a:lnTo>
                  <a:lnTo>
                    <a:pt x="0" y="2998800"/>
                  </a:lnTo>
                  <a:close/>
                </a:path>
              </a:pathLst>
            </a:custGeom>
            <a:blipFill>
              <a:blip r:embed="rId2">
                <a:alphaModFix amt="0"/>
              </a:blip>
              <a:stretch>
                <a:fillRect l="0" t="-84233" r="0" b="-84233"/>
              </a:stretch>
            </a:blipFill>
          </p:spPr>
        </p:sp>
        <p:sp>
          <p:nvSpPr>
            <p:cNvPr name="TextBox 9" id="9"/>
            <p:cNvSpPr txBox="true"/>
            <p:nvPr/>
          </p:nvSpPr>
          <p:spPr>
            <a:xfrm>
              <a:off x="0" y="152400"/>
              <a:ext cx="20658963" cy="2846400"/>
            </a:xfrm>
            <a:prstGeom prst="rect">
              <a:avLst/>
            </a:prstGeom>
          </p:spPr>
          <p:txBody>
            <a:bodyPr anchor="ctr" rtlCol="false" tIns="0" lIns="0" bIns="0" rIns="0"/>
            <a:lstStyle/>
            <a:p>
              <a:pPr algn="l">
                <a:lnSpc>
                  <a:spcPts val="7200"/>
                </a:lnSpc>
              </a:pPr>
              <a:r>
                <a:rPr lang="en-US" sz="7500" spc="162">
                  <a:solidFill>
                    <a:srgbClr val="FFFFFF"/>
                  </a:solidFill>
                  <a:latin typeface="Big Shoulders Display"/>
                  <a:ea typeface="Big Shoulders Display"/>
                  <a:cs typeface="Big Shoulders Display"/>
                  <a:sym typeface="Big Shoulders Display"/>
                </a:rPr>
                <a:t>Thank You</a:t>
              </a:r>
            </a:p>
          </p:txBody>
        </p:sp>
      </p:grpSp>
      <p:sp>
        <p:nvSpPr>
          <p:cNvPr name="AutoShape 10" id="10"/>
          <p:cNvSpPr/>
          <p:nvPr/>
        </p:nvSpPr>
        <p:spPr>
          <a:xfrm rot="-5328540">
            <a:off x="442398" y="1915849"/>
            <a:ext cx="1401013" cy="0"/>
          </a:xfrm>
          <a:prstGeom prst="line">
            <a:avLst/>
          </a:prstGeom>
          <a:ln cap="rnd" w="19050">
            <a:solidFill>
              <a:srgbClr val="1CADE4"/>
            </a:solidFill>
            <a:prstDash val="solid"/>
            <a:headEnd type="none" len="sm" w="sm"/>
            <a:tailEnd type="none" len="sm" w="sm"/>
          </a:ln>
        </p:spPr>
      </p:sp>
    </p:spTree>
  </p:cSld>
  <p:clrMapOvr>
    <a:masterClrMapping/>
  </p:clrMapOvr>
  <p:transition spd="fast">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DAHGU8jrw1E</dc:identifier>
  <dcterms:modified xsi:type="dcterms:W3CDTF">2011-08-01T06:04:30Z</dcterms:modified>
  <cp:revision>1</cp:revision>
  <dc:title>import java.util.Scanner; public class SavingsTracker { public static void main(String[] args) { Scanner sc = new Scanner(System.in); double goal, savings; System.out.print("Enter Goal: "); goal = sc.nextDouble(); System.out.print("Enter Savings: ");</dc:title>
</cp:coreProperties>
</file>